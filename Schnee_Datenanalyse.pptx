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28" r:id="rId2"/>
  </p:sldMasterIdLst>
  <p:notesMasterIdLst>
    <p:notesMasterId r:id="rId10"/>
  </p:notesMasterIdLst>
  <p:handoutMasterIdLst>
    <p:handoutMasterId r:id="rId11"/>
  </p:handoutMasterIdLst>
  <p:sldIdLst>
    <p:sldId id="260" r:id="rId3"/>
    <p:sldId id="261" r:id="rId4"/>
    <p:sldId id="277" r:id="rId5"/>
    <p:sldId id="279" r:id="rId6"/>
    <p:sldId id="273" r:id="rId7"/>
    <p:sldId id="275" r:id="rId8"/>
    <p:sldId id="28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8B2D"/>
    <a:srgbClr val="4C4D4C"/>
    <a:srgbClr val="343433"/>
    <a:srgbClr val="00294C"/>
    <a:srgbClr val="636462"/>
    <a:srgbClr val="7777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21" autoAdjust="0"/>
    <p:restoredTop sz="94652"/>
  </p:normalViewPr>
  <p:slideViewPr>
    <p:cSldViewPr snapToGrid="0" snapToObjects="1" showGuides="1">
      <p:cViewPr>
        <p:scale>
          <a:sx n="104" d="100"/>
          <a:sy n="104" d="100"/>
        </p:scale>
        <p:origin x="272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70" d="100"/>
          <a:sy n="170" d="100"/>
        </p:scale>
        <p:origin x="6480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AF9A7093-B570-B193-D7A9-C5C63DBA201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BD1486-6470-ADF8-DE88-7EFF4FFC6F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5FBCA-7827-204B-8916-3BD441F72BB8}" type="datetimeFigureOut">
              <a:rPr lang="de-DE" smtClean="0"/>
              <a:t>19.10.26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4AD9848-4544-6C88-D485-3E2FFA25BC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A54C57B-ECE4-849C-BD69-0C6CD30F619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B2C0D7-0313-8748-AFD1-FE9CFDB25CA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65887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2CE5A1-857B-214D-8BEE-AF65CEFCD544}" type="datetimeFigureOut">
              <a:rPr lang="de-DE" smtClean="0"/>
              <a:t>19.10.26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531BCB-E4CC-CD41-BF0E-941D9510A3D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562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4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8242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5C1BE-21D5-F681-038C-AEE73BC55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247876-07A5-1E45-77A3-231F398AB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5F37E-546D-83D1-9121-4316EA1C6A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DAC74-8D46-4E1C-1CE3-8A32306D4D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95691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001FA-A842-1317-E27C-1B50590A2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B250C3-4D36-3DC7-EFE9-E5BEBABB2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0F1D71-AE23-86B0-3DED-B78612BA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F068B-1CB6-9BD9-A653-3E4754CB89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65296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25763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D398-AB37-6E56-6AAE-CDFC8B1E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68279-DC16-35EA-AB7E-D1DF844DE6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C35D6E-8AAB-219F-C694-8756E2A0C2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A5520-1448-40A1-0A0B-9D4CEE3C2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31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861CF-F735-466B-D7E9-BAF59CEA3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908B3-B56D-5D1A-7F54-529B8A7A6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EA7EF1-2DF1-2529-3C33-41F654DEB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B8B50-A717-7D51-0507-3EA6A14152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230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223FF5FB-C0BC-8FBF-E010-82C75F859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4A5A38D-E190-82AE-46C3-2654892513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423" y="2624296"/>
            <a:ext cx="10561669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5FB9842-8DFB-C8D2-DAF3-F9AEA1236D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85423" y="5407457"/>
            <a:ext cx="10561669" cy="457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>
                <a:solidFill>
                  <a:srgbClr val="343433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917861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223FF5FB-C0BC-8FBF-E010-82C75F859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4A5A38D-E190-82AE-46C3-2654892513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423" y="2624296"/>
            <a:ext cx="10561669" cy="457201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Textplatzhalter 12">
            <a:extLst>
              <a:ext uri="{FF2B5EF4-FFF2-40B4-BE49-F238E27FC236}">
                <a16:creationId xmlns:a16="http://schemas.microsoft.com/office/drawing/2014/main" id="{857560AF-62DA-685C-05D3-86EBDEF3A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85423" y="5407457"/>
            <a:ext cx="10561669" cy="457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>
                <a:solidFill>
                  <a:srgbClr val="343433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124398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44FC01E-4815-58CB-245F-C6264A32E6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408" y="1130142"/>
            <a:ext cx="10858029" cy="4746783"/>
          </a:xfrm>
        </p:spPr>
        <p:txBody>
          <a:bodyPr/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F467342-6F17-B273-AB31-7550A6A2E6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7408" y="332656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160C85B2-D425-5CFB-4251-19ED243B1A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8966" y="6357537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 dirty="0"/>
              <a:t>Titel oder Vortragender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5E0B9212-D1C1-ADB0-2A92-B1D1B2B01F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8836" y="6355278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97E50-EC1F-01A0-B1F3-70989E79ED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71980" y="6357537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2403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0" userDrawn="1">
          <p15:clr>
            <a:srgbClr val="FBAE40"/>
          </p15:clr>
        </p15:guide>
        <p15:guide id="2" pos="483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6763" y="1125538"/>
            <a:ext cx="5273191" cy="4751387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7F25E90-E439-A938-CC55-2C9384E72BB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282000" y="1125538"/>
            <a:ext cx="5400748" cy="4751387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4869B38-494B-4C89-A74E-D20229C10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763" y="329025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1064C877-38F5-B23B-AB59-8521CEDEF5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2404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45A9A-4549-7291-C45E-B517A0EB5B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0145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52BEA872-6F0E-93AD-97E6-4944DF48F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70083" y="6352404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8730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0970" y="1797050"/>
            <a:ext cx="5201331" cy="4079875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2000">
                <a:solidFill>
                  <a:srgbClr val="4C4D4C"/>
                </a:solidFill>
              </a:defRPr>
            </a:lvl2pPr>
            <a:lvl3pPr>
              <a:defRPr sz="2000">
                <a:solidFill>
                  <a:schemeClr val="accent6"/>
                </a:solidFill>
              </a:defRPr>
            </a:lvl3pPr>
            <a:lvl4pPr>
              <a:defRPr sz="2000">
                <a:solidFill>
                  <a:schemeClr val="accent6"/>
                </a:solidFill>
              </a:defRPr>
            </a:lvl4pPr>
            <a:lvl5pPr>
              <a:defRPr sz="20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23EBBEB-ABBC-395C-14A7-2F7F0FAE60BA}"/>
              </a:ext>
            </a:extLst>
          </p:cNvPr>
          <p:cNvSpPr txBox="1"/>
          <p:nvPr userDrawn="1"/>
        </p:nvSpPr>
        <p:spPr>
          <a:xfrm>
            <a:off x="888646" y="1126927"/>
            <a:ext cx="5083656" cy="400110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Untertitelformat bearbeiten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68689F5-31B5-F924-6649-EBD229A11FB1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140174" y="1797050"/>
            <a:ext cx="5201331" cy="4079875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2000">
                <a:solidFill>
                  <a:srgbClr val="4C4D4C"/>
                </a:solidFill>
              </a:defRPr>
            </a:lvl2pPr>
            <a:lvl3pPr>
              <a:defRPr sz="2000">
                <a:solidFill>
                  <a:schemeClr val="accent6"/>
                </a:solidFill>
              </a:defRPr>
            </a:lvl3pPr>
            <a:lvl4pPr>
              <a:defRPr sz="2000">
                <a:solidFill>
                  <a:schemeClr val="accent6"/>
                </a:solidFill>
              </a:defRPr>
            </a:lvl4pPr>
            <a:lvl5pPr>
              <a:defRPr sz="20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FCADC7D-CFAE-D0EC-0BBB-45D49E9E25BF}"/>
              </a:ext>
            </a:extLst>
          </p:cNvPr>
          <p:cNvSpPr txBox="1"/>
          <p:nvPr userDrawn="1"/>
        </p:nvSpPr>
        <p:spPr>
          <a:xfrm>
            <a:off x="6140173" y="1127050"/>
            <a:ext cx="5201331" cy="400110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Untertitelformat bearbeiten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FBFCFE1-A281-A2FB-6E30-43BF24D334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3184" y="333375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CC06CE9B-759F-824A-C20A-5E10A93E48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4663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CBACC-8192-9FCA-5352-7C6863BD1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2404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ACE8F90-C45D-8937-D1DB-0139A002D5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70083" y="6354663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4412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6321" y="1117234"/>
            <a:ext cx="6080753" cy="4756918"/>
          </a:xfrm>
        </p:spPr>
        <p:txBody>
          <a:bodyPr/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0663" y="1120007"/>
            <a:ext cx="4538645" cy="4756918"/>
          </a:xfrm>
        </p:spPr>
        <p:txBody>
          <a:bodyPr>
            <a:normAutofit/>
          </a:bodyPr>
          <a:lstStyle>
            <a:lvl1pPr marL="0" indent="0">
              <a:buNone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10A2F76-5FE6-A2C9-8158-0253A4B2F1C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66763" y="602259"/>
            <a:ext cx="10878519" cy="47783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2667" dirty="0">
                <a:solidFill>
                  <a:schemeClr val="accent1"/>
                </a:solidFill>
              </a:defRPr>
            </a:lvl1pPr>
          </a:lstStyle>
          <a:p>
            <a:pPr lvl="0"/>
            <a:br>
              <a:rPr lang="de-DE" dirty="0"/>
            </a:br>
            <a:r>
              <a:rPr lang="de-DE" dirty="0"/>
              <a:t>Mastertitelformat 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595945F4-3FF9-3EFE-16B6-5F5982EA3F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58957" y="6367937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2C5FAE91-7171-D00B-D5B3-F231E3F8D1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78827" y="6365678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83719207-9E67-A5A0-0AFB-800C561F983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41971" y="6367937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7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97428" y="1125538"/>
            <a:ext cx="6135295" cy="4751387"/>
          </a:xfrm>
        </p:spPr>
        <p:txBody>
          <a:bodyPr anchor="t">
            <a:normAutofit/>
          </a:bodyPr>
          <a:lstStyle>
            <a:lvl1pPr marL="0" indent="0">
              <a:buNone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6C6A265-800A-43D6-2F98-C10611F547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6763" y="1125538"/>
            <a:ext cx="4538645" cy="4751387"/>
          </a:xfrm>
        </p:spPr>
        <p:txBody>
          <a:bodyPr>
            <a:normAutofit/>
          </a:bodyPr>
          <a:lstStyle>
            <a:lvl1pPr marL="0" indent="0">
              <a:buNone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54FDCCD-A5AF-88A5-9D20-108CCA7A46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763" y="333375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D19F5C56-FD7E-D515-80C0-7891D6A128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2404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6BA88-315C-2F5A-C8CA-1B8CAE5AFF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0145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E1B1380-8210-48A8-BB43-B42AD035E3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70083" y="6352404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9915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+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2">
            <a:extLst>
              <a:ext uri="{FF2B5EF4-FFF2-40B4-BE49-F238E27FC236}">
                <a16:creationId xmlns:a16="http://schemas.microsoft.com/office/drawing/2014/main" id="{CD230031-93FC-50BC-76F9-90A026F0873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6763" y="1126928"/>
            <a:ext cx="10865960" cy="480053"/>
          </a:xfrm>
        </p:spPr>
        <p:txBody>
          <a:bodyPr>
            <a:normAutofit/>
          </a:bodyPr>
          <a:lstStyle>
            <a:lvl1pPr marL="0" indent="0" algn="l">
              <a:buNone/>
              <a:defRPr sz="1733">
                <a:solidFill>
                  <a:srgbClr val="4C4D4C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66364703-4655-3A8A-7A24-521B94AB028D}"/>
              </a:ext>
            </a:extLst>
          </p:cNvPr>
          <p:cNvCxnSpPr/>
          <p:nvPr userDrawn="1"/>
        </p:nvCxnSpPr>
        <p:spPr>
          <a:xfrm>
            <a:off x="863269" y="1797050"/>
            <a:ext cx="0" cy="960107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D4537A4E-7ECF-DAE3-1691-53F73276FA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763" y="333375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A9014802-BFAB-F5A2-B75F-9FB942E2C2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2404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CAB30F97-4BE0-5CC1-D8E4-6176CBD1FA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0145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1B5A1-CC77-7628-2F4B-D2EF0A0DFA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70083" y="6352404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1EA5244-F51F-15E2-9ECD-098BAF45FF9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84250" y="1797050"/>
            <a:ext cx="10631488" cy="960438"/>
          </a:xfrm>
        </p:spPr>
        <p:txBody>
          <a:bodyPr>
            <a:normAutofit/>
          </a:bodyPr>
          <a:lstStyle>
            <a:lvl1pPr marL="0" indent="0">
              <a:buNone/>
              <a:defRPr sz="2100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de-DE" dirty="0"/>
              <a:t>Zitat bearbeiten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93C54AE5-9A00-9A92-A46D-BB640118A2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6763" y="3206750"/>
            <a:ext cx="10848975" cy="267017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9144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13716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18288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403692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DE1D3F9E-CCAE-4466-A283-C2A9F0F342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4663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ECBFD8B5-A5D3-47AF-94BC-02440AFB06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2404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6F82951B-5DE8-4179-9CDF-0C5072183A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70083" y="6354663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E3557F-6723-8117-535B-4980C2C2A4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75320" y="1772529"/>
            <a:ext cx="10987087" cy="410439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000">
                <a:solidFill>
                  <a:srgbClr val="4C4D4C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9144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13716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18288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81C9FEA-638E-55A9-B425-573F822E3E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6611" y="815364"/>
            <a:ext cx="11120437" cy="858837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600">
                <a:solidFill>
                  <a:schemeClr val="accent2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Titeltext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7653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ckblatt Social Media+ww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07090AD0-FD2A-CA7D-BBD5-5B2FCD0D81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240682" cy="688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136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3CDC0F-71BF-B840-812C-9588125E0BFE}" type="datetime6">
              <a:rPr lang="de-DE" smtClean="0"/>
              <a:t>Oktober 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18396C8-6250-4EB9-A9AF-4941536C7682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0" y="0"/>
            <a:ext cx="12250813" cy="689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70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06" r:id="rId3"/>
    <p:sldLayoutId id="2147483708" r:id="rId4"/>
    <p:sldLayoutId id="2147483721" r:id="rId5"/>
    <p:sldLayoutId id="2147483712" r:id="rId6"/>
    <p:sldLayoutId id="2147483713" r:id="rId7"/>
    <p:sldLayoutId id="2147483714" r:id="rId8"/>
    <p:sldLayoutId id="2147483735" r:id="rId9"/>
    <p:sldLayoutId id="2147483720" r:id="rId1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9" userDrawn="1">
          <p15:clr>
            <a:srgbClr val="F26B43"/>
          </p15:clr>
        </p15:guide>
        <p15:guide id="2" pos="48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3702" userDrawn="1">
          <p15:clr>
            <a:srgbClr val="F26B43"/>
          </p15:clr>
        </p15:guide>
        <p15:guide id="5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5880/FIDGEO.2023.037?utm_source=chatgpt.com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90557BE-3D57-486E-B62E-9294FE4B14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5251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A9A69A4-A408-41D6-A2A4-51B2066B32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5121" y="6350145"/>
            <a:ext cx="888247" cy="316684"/>
          </a:xfrm>
        </p:spPr>
        <p:txBody>
          <a:bodyPr/>
          <a:lstStyle/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7F5EE33-65E8-40A5-B6A0-D333CBE017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8265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A5DF4B-BDA5-B3A8-5D4D-ED375113BC09}"/>
              </a:ext>
            </a:extLst>
          </p:cNvPr>
          <p:cNvSpPr txBox="1"/>
          <p:nvPr/>
        </p:nvSpPr>
        <p:spPr>
          <a:xfrm>
            <a:off x="2225409" y="4000649"/>
            <a:ext cx="851971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900" b="1" dirty="0">
                <a:cs typeface="Lava Devanagari" pitchFamily="2" charset="77"/>
              </a:rPr>
              <a:t>Abbildung 1. </a:t>
            </a:r>
            <a:r>
              <a:rPr lang="en-AT" sz="900" dirty="0">
                <a:cs typeface="Lava Devanagari" pitchFamily="2" charset="77"/>
              </a:rPr>
              <a:t>Standorte der drei automatisierten Wetterstationen Bella Vista (2805 m a.s.l.), Latschbloder (2929 m a.s.l.) und Proviantdepot (2737 m a.s.l.) (Eigene Darstellung). </a:t>
            </a:r>
            <a:endParaRPr lang="en-AT" sz="900" b="1" dirty="0">
              <a:cs typeface="Lava Devanagari" pitchFamily="2" charset="77"/>
            </a:endParaRPr>
          </a:p>
        </p:txBody>
      </p:sp>
      <p:sp>
        <p:nvSpPr>
          <p:cNvPr id="12" name="Titel 21">
            <a:extLst>
              <a:ext uri="{FF2B5EF4-FFF2-40B4-BE49-F238E27FC236}">
                <a16:creationId xmlns:a16="http://schemas.microsoft.com/office/drawing/2014/main" id="{F8741EE0-412A-D502-71D0-66257968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4215" y="4576524"/>
            <a:ext cx="10822100" cy="1773621"/>
          </a:xfrm>
        </p:spPr>
        <p:txBody>
          <a:bodyPr/>
          <a:lstStyle/>
          <a:p>
            <a:pPr algn="ctr">
              <a:lnSpc>
                <a:spcPct val="150000"/>
              </a:lnSpc>
            </a:pPr>
            <a:r>
              <a:rPr lang="de-AT" sz="3200" b="1" u="sng" dirty="0">
                <a:latin typeface="+mn-lt"/>
                <a:cs typeface="Lava Devanagari" pitchFamily="2" charset="77"/>
              </a:rPr>
              <a:t>Datenanalyse der Schneehöhe und SWE im Hochgebirge</a:t>
            </a:r>
            <a:br>
              <a:rPr lang="de-AT" b="1" u="sng" dirty="0">
                <a:latin typeface="+mn-lt"/>
                <a:cs typeface="Lava Devanagari" pitchFamily="2" charset="77"/>
              </a:rPr>
            </a:br>
            <a:r>
              <a:rPr lang="en-AT" sz="2000" b="0" dirty="0">
                <a:latin typeface="+mn-lt"/>
                <a:cs typeface="Lava Devanagari" pitchFamily="2" charset="77"/>
              </a:rPr>
              <a:t>Vergleich der Wetterstationen Bella Vista, Latschbloder und Proviantdepot im Rofental </a:t>
            </a:r>
            <a:br>
              <a:rPr lang="en-AT" sz="2000" b="0" dirty="0">
                <a:latin typeface="+mn-lt"/>
                <a:cs typeface="Lava Devanagari" pitchFamily="2" charset="77"/>
              </a:rPr>
            </a:br>
            <a:r>
              <a:rPr lang="en-AT" sz="1600" b="0" dirty="0">
                <a:latin typeface="+mn-lt"/>
                <a:cs typeface="Lava Devanagari" pitchFamily="2" charset="77"/>
              </a:rPr>
              <a:t>Jonas </a:t>
            </a:r>
            <a:r>
              <a:rPr lang="en-AT" sz="1600" b="1" dirty="0">
                <a:latin typeface="+mn-lt"/>
                <a:cs typeface="Lava Devanagari" pitchFamily="2" charset="77"/>
              </a:rPr>
              <a:t>Knapke</a:t>
            </a:r>
            <a:r>
              <a:rPr lang="en-AT" sz="1600" b="0" dirty="0">
                <a:latin typeface="+mn-lt"/>
                <a:cs typeface="Lava Devanagari" pitchFamily="2" charset="77"/>
              </a:rPr>
              <a:t> &amp; Franziska </a:t>
            </a:r>
            <a:r>
              <a:rPr lang="en-AT" sz="1600" b="1" dirty="0">
                <a:latin typeface="+mn-lt"/>
                <a:cs typeface="Lava Devanagari" pitchFamily="2" charset="77"/>
              </a:rPr>
              <a:t>Jacobsohn</a:t>
            </a:r>
            <a:r>
              <a:rPr lang="en-AT" sz="1600" b="0" dirty="0">
                <a:latin typeface="+mn-lt"/>
                <a:cs typeface="Lava Devanagari" pitchFamily="2" charset="77"/>
              </a:rPr>
              <a:t> (20.10.2026), EU Gebirgsforschung </a:t>
            </a:r>
            <a:br>
              <a:rPr lang="de-AT" b="1" dirty="0"/>
            </a:br>
            <a:endParaRPr lang="de-AT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D34F501-39FD-4D0D-89C4-0622F37ED1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61" b="5690"/>
          <a:stretch>
            <a:fillRect/>
          </a:stretch>
        </p:blipFill>
        <p:spPr>
          <a:xfrm>
            <a:off x="3449256" y="177338"/>
            <a:ext cx="5440287" cy="3827503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2AAD372C-5C58-B5D6-8A3E-EE72C5397579}"/>
              </a:ext>
            </a:extLst>
          </p:cNvPr>
          <p:cNvSpPr/>
          <p:nvPr/>
        </p:nvSpPr>
        <p:spPr>
          <a:xfrm>
            <a:off x="5787342" y="1284790"/>
            <a:ext cx="127321" cy="127321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AC73ADC-9524-22A0-5FE7-E14C7A579D2B}"/>
              </a:ext>
            </a:extLst>
          </p:cNvPr>
          <p:cNvSpPr/>
          <p:nvPr/>
        </p:nvSpPr>
        <p:spPr>
          <a:xfrm>
            <a:off x="5376444" y="2309144"/>
            <a:ext cx="127321" cy="127321"/>
          </a:xfrm>
          <a:prstGeom prst="ellipse">
            <a:avLst/>
          </a:prstGeom>
          <a:solidFill>
            <a:srgbClr val="EB8B2D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ADFFCA2-4201-F0DA-9CF5-E18DCF6D27D2}"/>
              </a:ext>
            </a:extLst>
          </p:cNvPr>
          <p:cNvSpPr/>
          <p:nvPr/>
        </p:nvSpPr>
        <p:spPr>
          <a:xfrm>
            <a:off x="5040778" y="2934177"/>
            <a:ext cx="127321" cy="12732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287817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175FAA2-2214-9769-CE64-0CA5F17B61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57763B-BFD4-902E-F04C-1B92CA9FF1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131CB8E-1418-4F69-CA23-932227F465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6615A-D7A6-8122-C64A-0A8703D9DB5D}"/>
              </a:ext>
            </a:extLst>
          </p:cNvPr>
          <p:cNvSpPr txBox="1"/>
          <p:nvPr/>
        </p:nvSpPr>
        <p:spPr>
          <a:xfrm>
            <a:off x="3989293" y="5866384"/>
            <a:ext cx="58609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900" b="1" dirty="0">
                <a:cs typeface="Lava Devanagari" pitchFamily="2" charset="77"/>
              </a:rPr>
              <a:t>Abbildung 2. </a:t>
            </a:r>
            <a:r>
              <a:rPr lang="en-AT" sz="900" dirty="0">
                <a:cs typeface="Lava Devanagari" pitchFamily="2" charset="77"/>
              </a:rPr>
              <a:t>Schneehöhe der drei Stationen zwischen 2017 und 2025 (eigene Darstellung). </a:t>
            </a:r>
            <a:endParaRPr lang="en-AT" sz="900" b="1" dirty="0">
              <a:cs typeface="Lava Devanagari" pitchFamily="2" charset="77"/>
            </a:endParaRPr>
          </a:p>
        </p:txBody>
      </p:sp>
      <p:sp>
        <p:nvSpPr>
          <p:cNvPr id="11" name="Titel 6">
            <a:extLst>
              <a:ext uri="{FF2B5EF4-FFF2-40B4-BE49-F238E27FC236}">
                <a16:creationId xmlns:a16="http://schemas.microsoft.com/office/drawing/2014/main" id="{9A062724-EE49-EF43-430D-330223DA0A52}"/>
              </a:ext>
            </a:extLst>
          </p:cNvPr>
          <p:cNvSpPr txBox="1">
            <a:spLocks/>
          </p:cNvSpPr>
          <p:nvPr/>
        </p:nvSpPr>
        <p:spPr>
          <a:xfrm>
            <a:off x="319932" y="282947"/>
            <a:ext cx="6599851" cy="47783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67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000" b="1" dirty="0">
                <a:cs typeface="Lava Devanagari" pitchFamily="2" charset="77"/>
              </a:rPr>
              <a:t>1. Zeitreihe der Schneehöhe und SWE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ED100F-7465-F9EB-C488-FD2BA4F05E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53"/>
          <a:stretch>
            <a:fillRect/>
          </a:stretch>
        </p:blipFill>
        <p:spPr>
          <a:xfrm>
            <a:off x="1927654" y="656937"/>
            <a:ext cx="8226487" cy="520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572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FDB39-103C-EC92-7E36-97FCA4A8D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6EF2610-843C-2B25-31EB-AF702E9533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BDBA19D-D36E-5A48-B156-419F50DDC2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04FEB22A-2020-3C60-D9C8-5B919085FC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4616CF-78BB-65A1-FC56-6FD628688031}"/>
              </a:ext>
            </a:extLst>
          </p:cNvPr>
          <p:cNvSpPr txBox="1"/>
          <p:nvPr/>
        </p:nvSpPr>
        <p:spPr>
          <a:xfrm>
            <a:off x="4678425" y="5836096"/>
            <a:ext cx="58609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900" b="1" dirty="0">
                <a:cs typeface="Lava Devanagari" pitchFamily="2" charset="77"/>
              </a:rPr>
              <a:t>Abbildung 3. </a:t>
            </a:r>
            <a:r>
              <a:rPr lang="en-AT" sz="900" dirty="0">
                <a:cs typeface="Lava Devanagari" pitchFamily="2" charset="77"/>
              </a:rPr>
              <a:t>Regressionsanalyse von SWE und SH (eigene Darstellung). </a:t>
            </a:r>
            <a:endParaRPr lang="en-AT" sz="900" b="1" dirty="0">
              <a:cs typeface="Lava Devanagari" pitchFamily="2" charset="77"/>
            </a:endParaRPr>
          </a:p>
        </p:txBody>
      </p:sp>
      <p:sp>
        <p:nvSpPr>
          <p:cNvPr id="9" name="Titel 6">
            <a:extLst>
              <a:ext uri="{FF2B5EF4-FFF2-40B4-BE49-F238E27FC236}">
                <a16:creationId xmlns:a16="http://schemas.microsoft.com/office/drawing/2014/main" id="{001677C1-E80F-ABC4-ABF2-FE0BBCBE5038}"/>
              </a:ext>
            </a:extLst>
          </p:cNvPr>
          <p:cNvSpPr txBox="1">
            <a:spLocks/>
          </p:cNvSpPr>
          <p:nvPr/>
        </p:nvSpPr>
        <p:spPr>
          <a:xfrm>
            <a:off x="319932" y="282947"/>
            <a:ext cx="6599851" cy="47783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67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000" b="1" dirty="0">
                <a:cs typeface="Lava Devanagari" pitchFamily="2" charset="77"/>
              </a:rPr>
              <a:t>2. Statistische Analyse von SH und SWE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E8E86A1-B226-D1F3-C332-9090A3CF62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231"/>
          <a:stretch>
            <a:fillRect/>
          </a:stretch>
        </p:blipFill>
        <p:spPr>
          <a:xfrm>
            <a:off x="2469745" y="791072"/>
            <a:ext cx="7252509" cy="5076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512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1A397-2898-2227-849E-4F00B6DC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4ED5748-1B5E-6242-3345-47C725EDB6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D166BD1-7024-B27D-F766-B16D7D70A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340C6DFB-AF17-8984-834E-74A9D7784E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A7462-BA7D-FFC6-1897-D3EFA0719D2D}"/>
              </a:ext>
            </a:extLst>
          </p:cNvPr>
          <p:cNvSpPr txBox="1"/>
          <p:nvPr/>
        </p:nvSpPr>
        <p:spPr>
          <a:xfrm>
            <a:off x="3969841" y="5804829"/>
            <a:ext cx="58609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900" b="1" dirty="0">
                <a:cs typeface="Lava Devanagari" pitchFamily="2" charset="77"/>
              </a:rPr>
              <a:t>Abbildung 4. </a:t>
            </a:r>
            <a:r>
              <a:rPr lang="en-AT" sz="900" dirty="0">
                <a:cs typeface="Lava Devanagari" pitchFamily="2" charset="77"/>
              </a:rPr>
              <a:t>Jährlicher Vergleich der exponierten und geschützten Bella Vista Wetterstaion (eigene Darstellung). </a:t>
            </a:r>
            <a:endParaRPr lang="en-AT" sz="900" b="1" dirty="0">
              <a:cs typeface="Lava Devanagari" pitchFamily="2" charset="77"/>
            </a:endParaRPr>
          </a:p>
        </p:txBody>
      </p:sp>
      <p:sp>
        <p:nvSpPr>
          <p:cNvPr id="8" name="Titel 6">
            <a:extLst>
              <a:ext uri="{FF2B5EF4-FFF2-40B4-BE49-F238E27FC236}">
                <a16:creationId xmlns:a16="http://schemas.microsoft.com/office/drawing/2014/main" id="{EA69DFB7-CFD1-C09C-D363-48ECB76ED1F7}"/>
              </a:ext>
            </a:extLst>
          </p:cNvPr>
          <p:cNvSpPr txBox="1">
            <a:spLocks/>
          </p:cNvSpPr>
          <p:nvPr/>
        </p:nvSpPr>
        <p:spPr>
          <a:xfrm>
            <a:off x="397287" y="393844"/>
            <a:ext cx="10502942" cy="47783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67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b="1" dirty="0">
                <a:cs typeface="Lava Devanagari" pitchFamily="2" charset="77"/>
              </a:rPr>
              <a:t>3. Vergleich der exponierten und geschützten Bella Vista Station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83C0B04-9182-508B-B571-BF737A61B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078" y="952603"/>
            <a:ext cx="10085056" cy="4771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995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07D87-B58F-889D-74E4-E7A1EC37F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B3A833D-4173-6EA9-6F59-2AFB11EA4B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A3DE07-335F-6659-C974-F0593A901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A24926E-6AE9-4B54-D8B4-A075B4F8C1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1A6AC2-5A63-5364-44F3-F68BD647FDCB}"/>
                  </a:ext>
                </a:extLst>
              </p:cNvPr>
              <p:cNvSpPr txBox="1"/>
              <p:nvPr/>
            </p:nvSpPr>
            <p:spPr>
              <a:xfrm>
                <a:off x="492604" y="958952"/>
                <a:ext cx="11453866" cy="50726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itchFamily="2" charset="2"/>
                  <a:buChar char="Ø"/>
                </a:pPr>
                <a:r>
                  <a:rPr lang="en-GB" dirty="0"/>
                  <a:t>K</a:t>
                </a:r>
                <a:r>
                  <a:rPr lang="en-AT" dirty="0"/>
                  <a:t>larer Zusammenhang zwischen SH und SWE erkennbar </a:t>
                </a:r>
                <a:r>
                  <a:rPr lang="en-AT" sz="1400" dirty="0"/>
                  <a:t>(r</a:t>
                </a:r>
                <a:r>
                  <a:rPr lang="en-AT" sz="1400" baseline="-25000" dirty="0"/>
                  <a:t>Pearson</a:t>
                </a:r>
                <a:r>
                  <a:rPr lang="en-AT" sz="1400" dirty="0"/>
                  <a:t>= 0.90 – 0.99; R</a:t>
                </a:r>
                <a:r>
                  <a:rPr lang="en-AT" sz="1400" baseline="30000" dirty="0"/>
                  <a:t>2</a:t>
                </a:r>
                <a:r>
                  <a:rPr lang="en-AT" sz="1400" dirty="0"/>
                  <a:t> = 0.82 – 0.99) </a:t>
                </a:r>
              </a:p>
              <a:p>
                <a:pPr>
                  <a:lnSpc>
                    <a:spcPct val="200000"/>
                  </a:lnSpc>
                </a:pPr>
                <a:r>
                  <a:rPr lang="en-AT" sz="1400" dirty="0"/>
                  <a:t>								</a:t>
                </a:r>
                <a:r>
                  <a:rPr lang="en-AT" sz="1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SWE </a:t>
                </a:r>
                <a14:m>
                  <m:oMath xmlns:m="http://schemas.openxmlformats.org/officeDocument/2006/math">
                    <m:r>
                      <a:rPr lang="en-AT" sz="14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AT" sz="1400" b="1" i="1">
                        <a:latin typeface="Cambria Math" panose="02040503050406030204" pitchFamily="18" charset="0"/>
                        <a:sym typeface="Wingdings" pitchFamily="2" charset="2"/>
                      </a:rPr>
                      <m:t>𝒉</m:t>
                    </m:r>
                    <m:r>
                      <a:rPr lang="de-AT" sz="1400" b="1" i="1" baseline="-25000">
                        <a:latin typeface="Cambria Math" panose="02040503050406030204" pitchFamily="18" charset="0"/>
                        <a:sym typeface="Wingdings" pitchFamily="2" charset="2"/>
                      </a:rPr>
                      <m:t>𝒔</m:t>
                    </m:r>
                    <m:r>
                      <a:rPr lang="de-AT" sz="1400" b="1" i="1" baseline="-25000">
                        <a:latin typeface="Cambria Math" panose="02040503050406030204" pitchFamily="18" charset="0"/>
                        <a:sym typeface="Wingdings" pitchFamily="2" charset="2"/>
                      </a:rPr>
                      <m:t>   </m:t>
                    </m:r>
                    <m:f>
                      <m:fPr>
                        <m:ctrlPr>
                          <a:rPr lang="en-AT" sz="14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AT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T" sz="1400" b="1" i="1">
                                <a:latin typeface="Cambria Math" panose="02040503050406030204" pitchFamily="18" charset="0"/>
                              </a:rPr>
                              <m:t>𝝆</m:t>
                            </m:r>
                          </m:e>
                          <m:sub>
                            <m:r>
                              <a:rPr lang="en-AT" sz="1400" b="1" i="1">
                                <a:latin typeface="Cambria Math" panose="02040503050406030204" pitchFamily="18" charset="0"/>
                              </a:rPr>
                              <m:t>𝒔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AT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T" sz="1400" b="1" i="1">
                                <a:latin typeface="Cambria Math" panose="02040503050406030204" pitchFamily="18" charset="0"/>
                              </a:rPr>
                              <m:t>𝝆</m:t>
                            </m:r>
                          </m:e>
                          <m:sub>
                            <m:r>
                              <a:rPr lang="de-AT" sz="1400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sub>
                        </m:sSub>
                      </m:den>
                    </m:f>
                  </m:oMath>
                </a14:m>
                <a:endParaRPr lang="en-GB" dirty="0"/>
              </a:p>
              <a:p>
                <a:pPr marL="285750" indent="-285750">
                  <a:lnSpc>
                    <a:spcPct val="200000"/>
                  </a:lnSpc>
                  <a:buFont typeface="Wingdings" pitchFamily="2" charset="2"/>
                  <a:buChar char="Ø"/>
                </a:pPr>
                <a:r>
                  <a:rPr lang="en-GB" u="sng" dirty="0"/>
                  <a:t>ABER: </a:t>
                </a:r>
                <a:r>
                  <a:rPr lang="en-GB" dirty="0"/>
                  <a:t>B</a:t>
                </a:r>
                <a:r>
                  <a:rPr lang="en-AT" dirty="0"/>
                  <a:t>ei geringere Schneehöhen ist die Streuung der Messwerte um die Regressionsgerade geringer </a:t>
                </a:r>
              </a:p>
              <a:p>
                <a:pPr marL="285750" indent="-285750">
                  <a:lnSpc>
                    <a:spcPct val="200000"/>
                  </a:lnSpc>
                  <a:buFont typeface="Wingdings" pitchFamily="2" charset="2"/>
                  <a:buChar char="à"/>
                </a:pPr>
                <a:r>
                  <a:rPr lang="en-AT" dirty="0">
                    <a:sym typeface="Wingdings" pitchFamily="2" charset="2"/>
                  </a:rPr>
                  <a:t>Annahme: </a:t>
                </a:r>
                <a:r>
                  <a:rPr lang="en-AT" b="1" i="1" dirty="0">
                    <a:sym typeface="Wingdings" pitchFamily="2" charset="2"/>
                  </a:rPr>
                  <a:t>Änderung der Schneedichte im Laufe der Zeit (Metamorphose) </a:t>
                </a:r>
              </a:p>
              <a:p>
                <a:pPr marL="285750" indent="-285750">
                  <a:lnSpc>
                    <a:spcPct val="200000"/>
                  </a:lnSpc>
                  <a:buFont typeface="Wingdings" pitchFamily="2" charset="2"/>
                  <a:buChar char="Ø"/>
                </a:pPr>
                <a:r>
                  <a:rPr lang="en-GB" dirty="0">
                    <a:sym typeface="Wingdings" pitchFamily="2" charset="2"/>
                  </a:rPr>
                  <a:t>K</a:t>
                </a:r>
                <a:r>
                  <a:rPr lang="en-AT" dirty="0">
                    <a:sym typeface="Wingdings" pitchFamily="2" charset="2"/>
                  </a:rPr>
                  <a:t>lare Unterschiede zwischen den Stationen erkennbar (z.B. Latschbloder / Proviantdepot (2019); Bella Vista (geschützt) deutlich höhere Werte) </a:t>
                </a:r>
              </a:p>
              <a:p>
                <a:pPr>
                  <a:lnSpc>
                    <a:spcPct val="200000"/>
                  </a:lnSpc>
                </a:pPr>
                <a:r>
                  <a:rPr lang="en-AT" dirty="0">
                    <a:sym typeface="Wingdings" pitchFamily="2" charset="2"/>
                  </a:rPr>
                  <a:t> Annahme: </a:t>
                </a:r>
                <a:r>
                  <a:rPr lang="en-AT" b="1" i="1" dirty="0">
                    <a:sym typeface="Wingdings" pitchFamily="2" charset="2"/>
                  </a:rPr>
                  <a:t>Winddeportation, inhomogene Niederschlagsverteilung</a:t>
                </a:r>
                <a:r>
                  <a:rPr lang="en-AT" i="1" dirty="0">
                    <a:sym typeface="Wingdings" pitchFamily="2" charset="2"/>
                  </a:rPr>
                  <a:t> </a:t>
                </a:r>
                <a:r>
                  <a:rPr lang="en-AT" sz="1200" i="1" dirty="0">
                    <a:sym typeface="Wingdings" pitchFamily="2" charset="2"/>
                  </a:rPr>
                  <a:t>(Warscher et al., 2024) </a:t>
                </a:r>
                <a:endParaRPr lang="en-AT" sz="1200" dirty="0"/>
              </a:p>
              <a:p>
                <a:pPr marL="285750" indent="-285750">
                  <a:lnSpc>
                    <a:spcPct val="200000"/>
                  </a:lnSpc>
                  <a:buFont typeface="Wingdings" pitchFamily="2" charset="2"/>
                  <a:buChar char="Ø"/>
                </a:pPr>
                <a:r>
                  <a:rPr lang="en-AT" dirty="0"/>
                  <a:t>Bella Vista (exponiert) vs. Bella Vista (geschützt) </a:t>
                </a:r>
              </a:p>
              <a:p>
                <a:pPr>
                  <a:lnSpc>
                    <a:spcPct val="200000"/>
                  </a:lnSpc>
                </a:pPr>
                <a:r>
                  <a:rPr lang="en-AT" dirty="0">
                    <a:sym typeface="Wingdings" pitchFamily="2" charset="2"/>
                  </a:rPr>
                  <a:t> Annahme: </a:t>
                </a:r>
                <a:r>
                  <a:rPr lang="en-AT" b="1" i="1" dirty="0">
                    <a:sym typeface="Wingdings" pitchFamily="2" charset="2"/>
                  </a:rPr>
                  <a:t>Schneedecke wird durch Wind abgetragen und abgelagert </a:t>
                </a:r>
                <a:r>
                  <a:rPr lang="en-AT" sz="1200" i="1" dirty="0">
                    <a:sym typeface="Wingdings" pitchFamily="2" charset="2"/>
                  </a:rPr>
                  <a:t>(Warscher et al., 2024) </a:t>
                </a:r>
                <a:endParaRPr lang="en-AT" sz="12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1A6AC2-5A63-5364-44F3-F68BD647FD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604" y="958952"/>
                <a:ext cx="11453866" cy="5072671"/>
              </a:xfrm>
              <a:prstGeom prst="rect">
                <a:avLst/>
              </a:prstGeom>
              <a:blipFill>
                <a:blip r:embed="rId3"/>
                <a:stretch>
                  <a:fillRect l="-443" b="-125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itel 6">
            <a:extLst>
              <a:ext uri="{FF2B5EF4-FFF2-40B4-BE49-F238E27FC236}">
                <a16:creationId xmlns:a16="http://schemas.microsoft.com/office/drawing/2014/main" id="{710CF7F0-4E8A-4F1B-28C9-49116A98E4BA}"/>
              </a:ext>
            </a:extLst>
          </p:cNvPr>
          <p:cNvSpPr txBox="1">
            <a:spLocks/>
          </p:cNvSpPr>
          <p:nvPr/>
        </p:nvSpPr>
        <p:spPr>
          <a:xfrm>
            <a:off x="397287" y="393844"/>
            <a:ext cx="8383856" cy="47783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67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b="1" dirty="0">
                <a:cs typeface="Lava Devanagari" pitchFamily="2" charset="77"/>
              </a:rPr>
              <a:t>4. Fazit</a:t>
            </a:r>
          </a:p>
        </p:txBody>
      </p:sp>
    </p:spTree>
    <p:extLst>
      <p:ext uri="{BB962C8B-B14F-4D97-AF65-F5344CB8AC3E}">
        <p14:creationId xmlns:p14="http://schemas.microsoft.com/office/powerpoint/2010/main" val="2081847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B18DB-68DA-9902-3537-3FD9387C7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455851F8-3C47-C348-2859-93D60531D3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397" y="348021"/>
            <a:ext cx="9152312" cy="477837"/>
          </a:xfrm>
        </p:spPr>
        <p:txBody>
          <a:bodyPr/>
          <a:lstStyle/>
          <a:p>
            <a:r>
              <a:rPr lang="de-DE" sz="2000" b="1" dirty="0">
                <a:cs typeface="Lava Devanagari" pitchFamily="2" charset="77"/>
              </a:rPr>
              <a:t>Literaturverzeichnis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1A16137-1AA6-15C8-622A-11AC6A9F9A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C936EE4-DBC0-6DF6-BFD7-7756F6E6B9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0AF280CC-82DD-0A89-0D53-AB7903DF52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5B07F7-AB05-B6FC-D8AA-A6BB84357EE2}"/>
              </a:ext>
            </a:extLst>
          </p:cNvPr>
          <p:cNvSpPr txBox="1"/>
          <p:nvPr/>
        </p:nvSpPr>
        <p:spPr>
          <a:xfrm>
            <a:off x="571398" y="844533"/>
            <a:ext cx="10617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1400" dirty="0"/>
              <a:t>Warscher, M., Marke, T., Rottler, E., &amp; Strasser, U. (2024). Operational and experimental snow observation systems in the upper Rofental: data from 2017 to 2023. </a:t>
            </a:r>
            <a:r>
              <a:rPr lang="en-AT" sz="1400" i="1" dirty="0"/>
              <a:t>Earth System Science Data</a:t>
            </a:r>
            <a:r>
              <a:rPr lang="en-AT" sz="1400" dirty="0"/>
              <a:t>, </a:t>
            </a:r>
            <a:r>
              <a:rPr lang="en-AT" sz="1400" i="1" dirty="0"/>
              <a:t>16</a:t>
            </a:r>
            <a:r>
              <a:rPr lang="en-AT" sz="1400" dirty="0"/>
              <a:t>(8), 3579-3599.</a:t>
            </a:r>
          </a:p>
        </p:txBody>
      </p:sp>
      <p:sp>
        <p:nvSpPr>
          <p:cNvPr id="3" name="Titel 6">
            <a:extLst>
              <a:ext uri="{FF2B5EF4-FFF2-40B4-BE49-F238E27FC236}">
                <a16:creationId xmlns:a16="http://schemas.microsoft.com/office/drawing/2014/main" id="{042DC36C-8B3F-8053-560B-338C4DEB98B7}"/>
              </a:ext>
            </a:extLst>
          </p:cNvPr>
          <p:cNvSpPr txBox="1">
            <a:spLocks/>
          </p:cNvSpPr>
          <p:nvPr/>
        </p:nvSpPr>
        <p:spPr>
          <a:xfrm>
            <a:off x="571397" y="1580685"/>
            <a:ext cx="9152312" cy="47783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67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000" b="1" dirty="0">
                <a:cs typeface="Lava Devanagari" pitchFamily="2" charset="77"/>
              </a:rPr>
              <a:t>Abbildungsverzeichnis</a:t>
            </a:r>
            <a:r>
              <a:rPr lang="de-DE" sz="3200" b="1" dirty="0">
                <a:cs typeface="Lava Devanagari" pitchFamily="2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42D2EE-0BCD-9EDD-038F-247A7BF47D67}"/>
              </a:ext>
            </a:extLst>
          </p:cNvPr>
          <p:cNvSpPr txBox="1"/>
          <p:nvPr/>
        </p:nvSpPr>
        <p:spPr>
          <a:xfrm>
            <a:off x="571398" y="2024149"/>
            <a:ext cx="106172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1400" b="1" dirty="0"/>
              <a:t>Abbildung 1. </a:t>
            </a:r>
            <a:r>
              <a:rPr lang="en-AT" sz="1400" dirty="0">
                <a:cs typeface="Lava Devanagari" pitchFamily="2" charset="77"/>
              </a:rPr>
              <a:t>Standorte der drei automatisierten Wetterstationen Bella Vista (2805 m a.s.l.), Latschbloder (2929 m a.s.l.) und Proviantdepot (2737 m a.s.l.). </a:t>
            </a:r>
            <a:endParaRPr lang="en-AT" sz="1400" b="1" dirty="0"/>
          </a:p>
          <a:p>
            <a:endParaRPr lang="en-AT" sz="1400" b="1" dirty="0"/>
          </a:p>
          <a:p>
            <a:r>
              <a:rPr lang="en-AT" sz="1400" b="1" dirty="0"/>
              <a:t>Abbildung 2. </a:t>
            </a:r>
            <a:r>
              <a:rPr lang="en-AT" sz="1400" dirty="0">
                <a:cs typeface="Lava Devanagari" pitchFamily="2" charset="77"/>
              </a:rPr>
              <a:t>Schneehöhe der drei Stationen zwischen 2017 und 2025.</a:t>
            </a:r>
            <a:endParaRPr lang="en-AT" sz="1400" b="1" dirty="0"/>
          </a:p>
          <a:p>
            <a:endParaRPr lang="en-AT" sz="1400" b="1" dirty="0"/>
          </a:p>
          <a:p>
            <a:r>
              <a:rPr lang="en-AT" sz="1400" b="1" dirty="0"/>
              <a:t>Abbildung 3. </a:t>
            </a:r>
            <a:r>
              <a:rPr lang="en-AT" sz="1400" dirty="0">
                <a:cs typeface="Lava Devanagari" pitchFamily="2" charset="77"/>
              </a:rPr>
              <a:t>Regressionsanalyse von SWE und SH von Bella Vista und Latschbloder. </a:t>
            </a:r>
            <a:endParaRPr lang="en-AT" sz="1400" b="1" dirty="0"/>
          </a:p>
          <a:p>
            <a:endParaRPr lang="en-AT" sz="1400" b="1" dirty="0"/>
          </a:p>
          <a:p>
            <a:r>
              <a:rPr lang="en-AT" sz="1400" b="1" dirty="0"/>
              <a:t>Abbildung 4. </a:t>
            </a:r>
            <a:r>
              <a:rPr lang="en-AT" sz="1400" dirty="0">
                <a:cs typeface="Lava Devanagari" pitchFamily="2" charset="77"/>
              </a:rPr>
              <a:t>Jährlicher Vergleich der exponierten und geschützten Bella Vista Wetterstaion. </a:t>
            </a:r>
            <a:endParaRPr lang="en-AT" sz="1400" b="1" dirty="0"/>
          </a:p>
        </p:txBody>
      </p:sp>
      <p:sp>
        <p:nvSpPr>
          <p:cNvPr id="9" name="Titel 6">
            <a:extLst>
              <a:ext uri="{FF2B5EF4-FFF2-40B4-BE49-F238E27FC236}">
                <a16:creationId xmlns:a16="http://schemas.microsoft.com/office/drawing/2014/main" id="{1C7BF2B0-9E37-76A7-40F4-1BC144E959A7}"/>
              </a:ext>
            </a:extLst>
          </p:cNvPr>
          <p:cNvSpPr txBox="1">
            <a:spLocks/>
          </p:cNvSpPr>
          <p:nvPr/>
        </p:nvSpPr>
        <p:spPr>
          <a:xfrm>
            <a:off x="571397" y="4002048"/>
            <a:ext cx="9152312" cy="47783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67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000" b="1" dirty="0">
                <a:cs typeface="Lava Devanagari" pitchFamily="2" charset="77"/>
              </a:rPr>
              <a:t>Datengrundlage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33F549-DE99-9EB4-020D-7DEDA31232A9}"/>
              </a:ext>
            </a:extLst>
          </p:cNvPr>
          <p:cNvSpPr txBox="1"/>
          <p:nvPr/>
        </p:nvSpPr>
        <p:spPr>
          <a:xfrm>
            <a:off x="617207" y="4468512"/>
            <a:ext cx="90606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1400" dirty="0"/>
              <a:t>Warscher et al. (2023), GFZ Data Services. </a:t>
            </a:r>
            <a:r>
              <a:rPr lang="en-AT" sz="1400" dirty="0">
                <a:hlinkClick r:id="rId3"/>
              </a:rPr>
              <a:t>https://doi.org/10.5880/FIDGEO.2023.037</a:t>
            </a:r>
            <a:endParaRPr lang="en-AT" sz="1400" dirty="0"/>
          </a:p>
        </p:txBody>
      </p:sp>
      <p:sp>
        <p:nvSpPr>
          <p:cNvPr id="10" name="Titel 6">
            <a:extLst>
              <a:ext uri="{FF2B5EF4-FFF2-40B4-BE49-F238E27FC236}">
                <a16:creationId xmlns:a16="http://schemas.microsoft.com/office/drawing/2014/main" id="{FD1A1052-C7DB-3E3A-3DA1-66829B3814C1}"/>
              </a:ext>
            </a:extLst>
          </p:cNvPr>
          <p:cNvSpPr txBox="1">
            <a:spLocks/>
          </p:cNvSpPr>
          <p:nvPr/>
        </p:nvSpPr>
        <p:spPr>
          <a:xfrm>
            <a:off x="617207" y="4938307"/>
            <a:ext cx="9152312" cy="47783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67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000" b="1" dirty="0">
                <a:cs typeface="Lava Devanagari" pitchFamily="2" charset="77"/>
              </a:rPr>
              <a:t>Appendix</a:t>
            </a:r>
            <a:r>
              <a:rPr lang="de-DE" sz="3200" b="1" dirty="0">
                <a:cs typeface="Lava Devanagari" pitchFamily="2" charset="77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08EDE9-5FF1-17D4-3CA3-EA6162B2F8DC}"/>
              </a:ext>
            </a:extLst>
          </p:cNvPr>
          <p:cNvSpPr txBox="1"/>
          <p:nvPr/>
        </p:nvSpPr>
        <p:spPr>
          <a:xfrm>
            <a:off x="617207" y="5371586"/>
            <a:ext cx="10617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1400" dirty="0"/>
              <a:t>Python Skripte, Abbildungen etc.: </a:t>
            </a:r>
            <a:r>
              <a:rPr lang="en-GB" sz="1400" dirty="0"/>
              <a:t>https://</a:t>
            </a:r>
            <a:r>
              <a:rPr lang="en-GB" sz="1400" dirty="0" err="1"/>
              <a:t>github.com</a:t>
            </a:r>
            <a:r>
              <a:rPr lang="en-GB" sz="1400" dirty="0"/>
              <a:t>/20jacobs/</a:t>
            </a:r>
            <a:r>
              <a:rPr lang="en-GB" sz="1400" dirty="0" err="1"/>
              <a:t>Snow_rofental.git</a:t>
            </a:r>
            <a:endParaRPr lang="en-AT" sz="1400" dirty="0"/>
          </a:p>
        </p:txBody>
      </p:sp>
    </p:spTree>
    <p:extLst>
      <p:ext uri="{BB962C8B-B14F-4D97-AF65-F5344CB8AC3E}">
        <p14:creationId xmlns:p14="http://schemas.microsoft.com/office/powerpoint/2010/main" val="1053504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C796B-FD04-4241-A02B-AA78A1300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EED85A87-7DB0-F1E9-F429-7BE45ECE9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3020" y="682316"/>
            <a:ext cx="9152312" cy="477837"/>
          </a:xfrm>
        </p:spPr>
        <p:txBody>
          <a:bodyPr/>
          <a:lstStyle/>
          <a:p>
            <a:r>
              <a:rPr lang="de-DE" sz="3200" b="1" dirty="0">
                <a:cs typeface="Lava Devanagari" pitchFamily="2" charset="77"/>
              </a:rPr>
              <a:t>2. Schneehöhe Bella Vista (exponiert) - ?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B0F4337-B946-95B8-93AC-6E22839EB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6E05B91-86EA-0636-2FE1-D416E99E5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ACB6EC1-59CA-7DF5-3DBF-90BB435D93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8EC0F1-4C40-1F75-F1D8-A99BE94E5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322" y="1391545"/>
            <a:ext cx="9550430" cy="4724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595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uibk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3361"/>
      </a:accent1>
      <a:accent2>
        <a:srgbClr val="F392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��
</file>

<file path=customXml/itemProps1.xml><?xml version="1.0" encoding="utf-8"?>
<ds:datastoreItem xmlns:ds="http://schemas.openxmlformats.org/officeDocument/2006/customXml" ds:itemID="{E8D01778-62E1-4AD0-B2FB-E631DD3CCD47}">
  <ds:schemaRefs>
    <ds:schemaRef ds:uri="http://www.w3.org/2001/XMLSchema"/>
    <ds:schemaRef ds:uri="http://www.zhaw.ch/AccessibilityAddIn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1912</TotalTime>
  <Words>505</Words>
  <Application>Microsoft Macintosh PowerPoint</Application>
  <PresentationFormat>Widescreen</PresentationFormat>
  <Paragraphs>59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Lava Devanagari</vt:lpstr>
      <vt:lpstr>Wingdings</vt:lpstr>
      <vt:lpstr>Office</vt:lpstr>
      <vt:lpstr>Datenanalyse der Schneehöhe und SWE im Hochgebirge Vergleich der Wetterstationen Bella Vista, Latschbloder und Proviantdepot im Rofental  Jonas Knapke &amp; Franziska Jacobsohn (20.10.2026), EU Gebirgsforschung  </vt:lpstr>
      <vt:lpstr>PowerPoint Presentation</vt:lpstr>
      <vt:lpstr>PowerPoint Presentation</vt:lpstr>
      <vt:lpstr>PowerPoint Presentation</vt:lpstr>
      <vt:lpstr>PowerPoint Presentation</vt:lpstr>
      <vt:lpstr>Literaturverzeichnis </vt:lpstr>
      <vt:lpstr>2. Schneehöhe Bella Vista (exponiert) - 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Microsoft Office-Anwender</dc:creator>
  <cp:lastModifiedBy>franziska.jacobsohn@gmail.com</cp:lastModifiedBy>
  <cp:revision>130</cp:revision>
  <dcterms:created xsi:type="dcterms:W3CDTF">2017-06-06T07:41:45Z</dcterms:created>
  <dcterms:modified xsi:type="dcterms:W3CDTF">2026-10-19T19:46:33Z</dcterms:modified>
</cp:coreProperties>
</file>