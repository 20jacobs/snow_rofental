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728" r:id="rId2"/>
  </p:sldMasterIdLst>
  <p:notesMasterIdLst>
    <p:notesMasterId r:id="rId11"/>
  </p:notesMasterIdLst>
  <p:handoutMasterIdLst>
    <p:handoutMasterId r:id="rId12"/>
  </p:handoutMasterIdLst>
  <p:sldIdLst>
    <p:sldId id="260" r:id="rId3"/>
    <p:sldId id="261" r:id="rId4"/>
    <p:sldId id="273" r:id="rId5"/>
    <p:sldId id="274" r:id="rId6"/>
    <p:sldId id="277" r:id="rId7"/>
    <p:sldId id="278" r:id="rId8"/>
    <p:sldId id="275" r:id="rId9"/>
    <p:sldId id="276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C4D4C"/>
    <a:srgbClr val="343433"/>
    <a:srgbClr val="00294C"/>
    <a:srgbClr val="EB8B2D"/>
    <a:srgbClr val="636462"/>
    <a:srgbClr val="77777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6250" autoAdjust="0"/>
    <p:restoredTop sz="94620"/>
  </p:normalViewPr>
  <p:slideViewPr>
    <p:cSldViewPr snapToGrid="0" snapToObjects="1" showGuides="1">
      <p:cViewPr>
        <p:scale>
          <a:sx n="69" d="100"/>
          <a:sy n="69" d="100"/>
        </p:scale>
        <p:origin x="1680" y="11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 showGuides="1">
      <p:cViewPr varScale="1">
        <p:scale>
          <a:sx n="170" d="100"/>
          <a:sy n="170" d="100"/>
        </p:scale>
        <p:origin x="6480" y="20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presProps" Target="pres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handoutMaster" Target="handoutMasters/handoutMaster1.xml"/><Relationship Id="rId2" Type="http://schemas.openxmlformats.org/officeDocument/2006/relationships/slideMaster" Target="slideMasters/slideMaster1.xml"/><Relationship Id="rId16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15" Type="http://schemas.openxmlformats.org/officeDocument/2006/relationships/theme" Target="theme/theme1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AF9A7093-B570-B193-D7A9-C5C63DBA201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3ABD1486-6470-ADF8-DE88-7EFF4FFC6F9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535FBCA-7827-204B-8916-3BD441F72BB8}" type="datetimeFigureOut">
              <a:rPr lang="de-DE" smtClean="0"/>
              <a:t>16.10.26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4AD9848-4544-6C88-D485-3E2FFA25BC9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0A54C57B-ECE4-849C-BD69-0C6CD30F619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FB2C0D7-0313-8748-AFD1-FE9CFDB25CAB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66588773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42CE5A1-857B-214D-8BEE-AF65CEFCD544}" type="datetimeFigureOut">
              <a:rPr lang="de-DE" smtClean="0"/>
              <a:t>16.10.26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B531BCB-E4CC-CD41-BF0E-941D9510A3DE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35625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5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78" algn="l" defTabSz="91435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54" algn="l" defTabSz="91435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532" algn="l" defTabSz="91435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709" algn="l" defTabSz="91435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886" algn="l" defTabSz="91435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062" algn="l" defTabSz="91435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240" algn="l" defTabSz="91435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418" algn="l" defTabSz="91435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531BCB-E4CC-CD41-BF0E-941D9510A3DE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5382422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531BCB-E4CC-CD41-BF0E-941D9510A3DE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1257635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C56971-9247-8D42-8FE2-CDD670C8C2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F96AE4A-E039-A112-AC13-31C323F42D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4BC5F4-74A7-FB86-3BFB-62F8C71A1A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9F1F7D-F4EB-AA8D-F13F-E0FA48E4DA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531BCB-E4CC-CD41-BF0E-941D9510A3DE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9371734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75C1BE-21D5-F681-038C-AEE73BC550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247876-07A5-1E45-77A3-231F398AB7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B5F37E-546D-83D1-9121-4316EA1C6A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1DAC74-8D46-4E1C-1CE3-8A32306D4D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531BCB-E4CC-CD41-BF0E-941D9510A3DE}" type="slidenum">
              <a:rPr lang="de-DE" smtClean="0"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1956917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350557-A2B9-6448-262F-9B14AC6DAA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F83FCD-E01C-513A-0DC9-34651BDA97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B09EDF7-94A4-24FE-BC60-B69D6F07ED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72BDE2-044E-C8CD-DB32-1B9BE24F4E3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531BCB-E4CC-CD41-BF0E-941D9510A3DE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9885101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BAD398-AB37-6E56-6AAE-CDFC8B1E33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968279-DC16-35EA-AB7E-D1DF844DE60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EC35D6E-8AAB-219F-C694-8756E2A0C2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0A5520-1448-40A1-0A0B-9D4CEE3C2B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531BCB-E4CC-CD41-BF0E-941D9510A3DE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933199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905277-2CEF-DBEA-45DC-52E5156A83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FF5008-2666-E1CE-69D1-FF67E30623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6F1D20E-8E65-D011-58D0-BA10226549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43B57B-89D3-00F7-A827-86FAB0573C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531BCB-E4CC-CD41-BF0E-941D9510A3DE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676402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 descr="Ein Bild, das Screenshot, Design enthält.&#10;&#10;KI-generierte Inhalte können fehlerhaft sein.">
            <a:extLst>
              <a:ext uri="{FF2B5EF4-FFF2-40B4-BE49-F238E27FC236}">
                <a16:creationId xmlns:a16="http://schemas.microsoft.com/office/drawing/2014/main" id="{223FF5FB-C0BC-8FBF-E010-82C75F85994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94A5A38D-E190-82AE-46C3-2654892513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85423" y="2624296"/>
            <a:ext cx="10561669" cy="477837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2667" b="1">
                <a:solidFill>
                  <a:schemeClr val="accent1"/>
                </a:solidFill>
              </a:defRPr>
            </a:lvl1pPr>
          </a:lstStyle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13" name="Textplatzhalter 12">
            <a:extLst>
              <a:ext uri="{FF2B5EF4-FFF2-40B4-BE49-F238E27FC236}">
                <a16:creationId xmlns:a16="http://schemas.microsoft.com/office/drawing/2014/main" id="{15FB9842-8DFB-C8D2-DAF3-F9AEA1236D6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85423" y="5407457"/>
            <a:ext cx="10561669" cy="457200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800">
                <a:solidFill>
                  <a:srgbClr val="343433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09178613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223FF5FB-C0BC-8FBF-E010-82C75F85994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94A5A38D-E190-82AE-46C3-2654892513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85423" y="2624296"/>
            <a:ext cx="10561669" cy="457201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2667" b="1">
                <a:solidFill>
                  <a:schemeClr val="accent1"/>
                </a:solidFill>
              </a:defRPr>
            </a:lvl1pPr>
          </a:lstStyle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2" name="Textplatzhalter 12">
            <a:extLst>
              <a:ext uri="{FF2B5EF4-FFF2-40B4-BE49-F238E27FC236}">
                <a16:creationId xmlns:a16="http://schemas.microsoft.com/office/drawing/2014/main" id="{857560AF-62DA-685C-05D3-86EBDEF3A45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85423" y="5407457"/>
            <a:ext cx="10561669" cy="457200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800">
                <a:solidFill>
                  <a:srgbClr val="343433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71243984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44FC01E-4815-58CB-245F-C6264A32E6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7408" y="1130142"/>
            <a:ext cx="10858029" cy="4746783"/>
          </a:xfrm>
        </p:spPr>
        <p:txBody>
          <a:bodyPr/>
          <a:lstStyle>
            <a:lvl1pPr marL="228594" indent="-228594">
              <a:buFont typeface="Wingdings" pitchFamily="2" charset="2"/>
              <a:buChar char="§"/>
              <a:defRPr sz="1733">
                <a:solidFill>
                  <a:srgbClr val="4C4D4C"/>
                </a:solidFill>
              </a:defRPr>
            </a:lvl1pPr>
            <a:lvl2pPr marL="685783" indent="-228594">
              <a:buFont typeface="Wingdings" pitchFamily="2" charset="2"/>
              <a:buChar char="§"/>
              <a:defRPr sz="1733">
                <a:solidFill>
                  <a:srgbClr val="4C4D4C"/>
                </a:solidFill>
              </a:defRPr>
            </a:lvl2pPr>
            <a:lvl3pPr marL="1142971" indent="-228594">
              <a:buFont typeface="Wingdings" pitchFamily="2" charset="2"/>
              <a:buChar char="§"/>
              <a:defRPr sz="1733">
                <a:solidFill>
                  <a:srgbClr val="4C4D4C"/>
                </a:solidFill>
              </a:defRPr>
            </a:lvl3pPr>
            <a:lvl4pPr marL="1600160" indent="-228594">
              <a:buFont typeface="Wingdings" pitchFamily="2" charset="2"/>
              <a:buChar char="§"/>
              <a:defRPr sz="1733">
                <a:solidFill>
                  <a:srgbClr val="4C4D4C"/>
                </a:solidFill>
              </a:defRPr>
            </a:lvl4pPr>
            <a:lvl5pPr marL="2057349" indent="-228594">
              <a:buFont typeface="Wingdings" pitchFamily="2" charset="2"/>
              <a:buChar char="§"/>
              <a:defRPr sz="1733">
                <a:solidFill>
                  <a:srgbClr val="4C4D4C"/>
                </a:solidFill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en-US" dirty="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F467342-6F17-B273-AB31-7550A6A2E6C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67408" y="332656"/>
            <a:ext cx="10865960" cy="477837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2667">
                <a:solidFill>
                  <a:schemeClr val="accent1"/>
                </a:solidFill>
              </a:defRPr>
            </a:lvl1pPr>
          </a:lstStyle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2" name="Footer Placeholder 2">
            <a:extLst>
              <a:ext uri="{FF2B5EF4-FFF2-40B4-BE49-F238E27FC236}">
                <a16:creationId xmlns:a16="http://schemas.microsoft.com/office/drawing/2014/main" id="{160C85B2-D425-5CFB-4251-19ED243B1A3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488966" y="6357537"/>
            <a:ext cx="4114800" cy="314425"/>
          </a:xfrm>
          <a:prstGeom prst="rect">
            <a:avLst/>
          </a:prstGeom>
        </p:spPr>
        <p:txBody>
          <a:bodyPr anchor="ctr" anchorCtr="1"/>
          <a:lstStyle>
            <a:lvl1pPr algn="ctr">
              <a:defRPr sz="933">
                <a:solidFill>
                  <a:schemeClr val="accent3"/>
                </a:solidFill>
                <a:latin typeface="+mj-lt"/>
              </a:defRPr>
            </a:lvl1pPr>
          </a:lstStyle>
          <a:p>
            <a:r>
              <a:rPr lang="de-DE" dirty="0"/>
              <a:t>Titel oder Vortragender</a:t>
            </a:r>
          </a:p>
        </p:txBody>
      </p:sp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5E0B9212-D1C1-ADB0-2A92-B1D1B2B01F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08836" y="6355278"/>
            <a:ext cx="888247" cy="316684"/>
          </a:xfrm>
          <a:prstGeom prst="rect">
            <a:avLst/>
          </a:prstGeom>
        </p:spPr>
        <p:txBody>
          <a:bodyPr anchor="ctr" anchorCtr="1"/>
          <a:lstStyle>
            <a:lvl1pPr algn="r">
              <a:defRPr sz="933">
                <a:solidFill>
                  <a:schemeClr val="accent3"/>
                </a:solidFill>
              </a:defRPr>
            </a:lvl1pPr>
          </a:lstStyle>
          <a:p>
            <a:r>
              <a:rPr lang="de-DE"/>
              <a:t>Seite </a:t>
            </a:r>
            <a:fld id="{EBA229B5-7CFD-BC45-B1DD-7E8FA6FF2A01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B97E50-EC1F-01A0-B1F3-70989E79EDD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971980" y="6357537"/>
            <a:ext cx="1311917" cy="3166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33">
                <a:solidFill>
                  <a:schemeClr val="accent3"/>
                </a:solidFill>
              </a:defRPr>
            </a:lvl1pPr>
          </a:lstStyle>
          <a:p>
            <a:fld id="{7C3CDC0F-71BF-B840-812C-9588125E0BFE}" type="datetime6">
              <a:rPr lang="de-DE" smtClean="0"/>
              <a:pPr/>
              <a:t>Oktober 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42403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0" userDrawn="1">
          <p15:clr>
            <a:srgbClr val="FBAE40"/>
          </p15:clr>
        </p15:guide>
        <p15:guide id="2" pos="483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66763" y="1125538"/>
            <a:ext cx="5273191" cy="4751387"/>
          </a:xfrm>
        </p:spPr>
        <p:txBody>
          <a:bodyPr>
            <a:normAutofit/>
          </a:bodyPr>
          <a:lstStyle>
            <a:lvl1pPr marL="228594" indent="-228594">
              <a:buFont typeface="Wingdings" pitchFamily="2" charset="2"/>
              <a:buChar char="§"/>
              <a:defRPr sz="1733">
                <a:solidFill>
                  <a:srgbClr val="4C4D4C"/>
                </a:solidFill>
              </a:defRPr>
            </a:lvl1pPr>
            <a:lvl2pPr marL="685783" indent="-228594">
              <a:buFont typeface="Wingdings" pitchFamily="2" charset="2"/>
              <a:buChar char="§"/>
              <a:defRPr sz="1733">
                <a:solidFill>
                  <a:srgbClr val="4C4D4C"/>
                </a:solidFill>
              </a:defRPr>
            </a:lvl2pPr>
            <a:lvl3pPr marL="1142971" indent="-228594">
              <a:buFont typeface="Wingdings" pitchFamily="2" charset="2"/>
              <a:buChar char="§"/>
              <a:defRPr sz="1733">
                <a:solidFill>
                  <a:srgbClr val="4C4D4C"/>
                </a:solidFill>
              </a:defRPr>
            </a:lvl3pPr>
            <a:lvl4pPr marL="1600160" indent="-228594">
              <a:buFont typeface="Wingdings" pitchFamily="2" charset="2"/>
              <a:buChar char="§"/>
              <a:defRPr sz="1733">
                <a:solidFill>
                  <a:srgbClr val="4C4D4C"/>
                </a:solidFill>
              </a:defRPr>
            </a:lvl4pPr>
            <a:lvl5pPr marL="2057349" indent="-228594">
              <a:buFont typeface="Wingdings" pitchFamily="2" charset="2"/>
              <a:buChar char="§"/>
              <a:defRPr sz="1733">
                <a:solidFill>
                  <a:srgbClr val="4C4D4C"/>
                </a:solidFill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en-US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27F25E90-E439-A938-CC55-2C9384E72BBE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6282000" y="1125538"/>
            <a:ext cx="5400748" cy="4751387"/>
          </a:xfrm>
        </p:spPr>
        <p:txBody>
          <a:bodyPr>
            <a:normAutofit/>
          </a:bodyPr>
          <a:lstStyle>
            <a:lvl1pPr marL="228594" indent="-228594">
              <a:buFont typeface="Wingdings" pitchFamily="2" charset="2"/>
              <a:buChar char="§"/>
              <a:defRPr sz="1733">
                <a:solidFill>
                  <a:srgbClr val="4C4D4C"/>
                </a:solidFill>
              </a:defRPr>
            </a:lvl1pPr>
            <a:lvl2pPr marL="685783" indent="-228594">
              <a:buFont typeface="Wingdings" pitchFamily="2" charset="2"/>
              <a:buChar char="§"/>
              <a:defRPr sz="1733">
                <a:solidFill>
                  <a:srgbClr val="4C4D4C"/>
                </a:solidFill>
              </a:defRPr>
            </a:lvl2pPr>
            <a:lvl3pPr marL="1142971" indent="-228594">
              <a:buFont typeface="Wingdings" pitchFamily="2" charset="2"/>
              <a:buChar char="§"/>
              <a:defRPr sz="1733">
                <a:solidFill>
                  <a:srgbClr val="4C4D4C"/>
                </a:solidFill>
              </a:defRPr>
            </a:lvl3pPr>
            <a:lvl4pPr marL="1600160" indent="-228594">
              <a:buFont typeface="Wingdings" pitchFamily="2" charset="2"/>
              <a:buChar char="§"/>
              <a:defRPr sz="1733">
                <a:solidFill>
                  <a:srgbClr val="4C4D4C"/>
                </a:solidFill>
              </a:defRPr>
            </a:lvl4pPr>
            <a:lvl5pPr marL="2057349" indent="-228594">
              <a:buFont typeface="Wingdings" pitchFamily="2" charset="2"/>
              <a:buChar char="§"/>
              <a:defRPr sz="1733">
                <a:solidFill>
                  <a:srgbClr val="4C4D4C"/>
                </a:solidFill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en-US" dirty="0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E4869B38-494B-4C89-A74E-D20229C10BE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66763" y="329025"/>
            <a:ext cx="10865960" cy="477837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2667">
                <a:solidFill>
                  <a:schemeClr val="accent1"/>
                </a:solidFill>
              </a:defRPr>
            </a:lvl1pPr>
          </a:lstStyle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2" name="Footer Placeholder 2">
            <a:extLst>
              <a:ext uri="{FF2B5EF4-FFF2-40B4-BE49-F238E27FC236}">
                <a16:creationId xmlns:a16="http://schemas.microsoft.com/office/drawing/2014/main" id="{1064C877-38F5-B23B-AB59-8521CEDEF56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487069" y="6352404"/>
            <a:ext cx="4114800" cy="314425"/>
          </a:xfrm>
          <a:prstGeom prst="rect">
            <a:avLst/>
          </a:prstGeom>
        </p:spPr>
        <p:txBody>
          <a:bodyPr anchor="ctr" anchorCtr="1"/>
          <a:lstStyle>
            <a:lvl1pPr algn="ctr">
              <a:defRPr sz="933">
                <a:solidFill>
                  <a:schemeClr val="accent3"/>
                </a:solidFill>
                <a:latin typeface="+mj-lt"/>
              </a:defRPr>
            </a:lvl1pPr>
          </a:lstStyle>
          <a:p>
            <a:r>
              <a:rPr lang="de-DE"/>
              <a:t>Titel oder Vortragender</a:t>
            </a:r>
            <a:endParaRPr lang="de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F45A9A-4549-7291-C45E-B517A0EB5B5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06939" y="6350145"/>
            <a:ext cx="888247" cy="316684"/>
          </a:xfrm>
          <a:prstGeom prst="rect">
            <a:avLst/>
          </a:prstGeom>
        </p:spPr>
        <p:txBody>
          <a:bodyPr anchor="ctr" anchorCtr="1"/>
          <a:lstStyle>
            <a:lvl1pPr algn="r">
              <a:defRPr sz="933">
                <a:solidFill>
                  <a:schemeClr val="accent3"/>
                </a:solidFill>
              </a:defRPr>
            </a:lvl1pPr>
          </a:lstStyle>
          <a:p>
            <a:r>
              <a:rPr lang="de-DE"/>
              <a:t>Seite </a:t>
            </a:r>
            <a:fld id="{EBA229B5-7CFD-BC45-B1DD-7E8FA6FF2A01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52BEA872-6F0E-93AD-97E6-4944DF48FBF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970083" y="6352404"/>
            <a:ext cx="1311917" cy="3166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33">
                <a:solidFill>
                  <a:schemeClr val="accent3"/>
                </a:solidFill>
              </a:defRPr>
            </a:lvl1pPr>
          </a:lstStyle>
          <a:p>
            <a:fld id="{7C3CDC0F-71BF-B840-812C-9588125E0BFE}" type="datetime6">
              <a:rPr lang="de-DE" smtClean="0"/>
              <a:pPr/>
              <a:t>Oktober 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468730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132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70970" y="1797050"/>
            <a:ext cx="5201331" cy="4079875"/>
          </a:xfrm>
        </p:spPr>
        <p:txBody>
          <a:bodyPr>
            <a:normAutofit/>
          </a:bodyPr>
          <a:lstStyle>
            <a:lvl1pPr marL="228594" indent="-228594">
              <a:buFont typeface="Wingdings" pitchFamily="2" charset="2"/>
              <a:buChar char="§"/>
              <a:defRPr sz="1733">
                <a:solidFill>
                  <a:srgbClr val="4C4D4C"/>
                </a:solidFill>
              </a:defRPr>
            </a:lvl1pPr>
            <a:lvl2pPr marL="457189" indent="0">
              <a:buNone/>
              <a:defRPr sz="2000">
                <a:solidFill>
                  <a:srgbClr val="4C4D4C"/>
                </a:solidFill>
              </a:defRPr>
            </a:lvl2pPr>
            <a:lvl3pPr>
              <a:defRPr sz="2000">
                <a:solidFill>
                  <a:schemeClr val="accent6"/>
                </a:solidFill>
              </a:defRPr>
            </a:lvl3pPr>
            <a:lvl4pPr>
              <a:defRPr sz="2000">
                <a:solidFill>
                  <a:schemeClr val="accent6"/>
                </a:solidFill>
              </a:defRPr>
            </a:lvl4pPr>
            <a:lvl5pPr>
              <a:defRPr sz="2000">
                <a:solidFill>
                  <a:schemeClr val="accent6"/>
                </a:solidFill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endParaRPr lang="en-US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D23EBBEB-ABBC-395C-14A7-2F7F0FAE60BA}"/>
              </a:ext>
            </a:extLst>
          </p:cNvPr>
          <p:cNvSpPr txBox="1"/>
          <p:nvPr userDrawn="1"/>
        </p:nvSpPr>
        <p:spPr>
          <a:xfrm>
            <a:off x="888646" y="1126927"/>
            <a:ext cx="5083656" cy="400110"/>
          </a:xfrm>
          <a:prstGeom prst="rect">
            <a:avLst/>
          </a:prstGeom>
          <a:solidFill>
            <a:schemeClr val="accent3"/>
          </a:solidFill>
        </p:spPr>
        <p:txBody>
          <a:bodyPr wrap="square" rtlCol="0">
            <a:spAutoFit/>
          </a:bodyPr>
          <a:lstStyle/>
          <a:p>
            <a:r>
              <a:rPr lang="de-DE" sz="2000" dirty="0">
                <a:solidFill>
                  <a:schemeClr val="bg1"/>
                </a:solidFill>
              </a:rPr>
              <a:t>Untertitelformat bearbeiten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068689F5-31B5-F924-6649-EBD229A11FB1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6140174" y="1797050"/>
            <a:ext cx="5201331" cy="4079875"/>
          </a:xfrm>
        </p:spPr>
        <p:txBody>
          <a:bodyPr>
            <a:normAutofit/>
          </a:bodyPr>
          <a:lstStyle>
            <a:lvl1pPr marL="228594" indent="-228594">
              <a:buFont typeface="Wingdings" pitchFamily="2" charset="2"/>
              <a:buChar char="§"/>
              <a:defRPr sz="1733">
                <a:solidFill>
                  <a:srgbClr val="4C4D4C"/>
                </a:solidFill>
              </a:defRPr>
            </a:lvl1pPr>
            <a:lvl2pPr marL="457189" indent="0">
              <a:buNone/>
              <a:defRPr sz="2000">
                <a:solidFill>
                  <a:srgbClr val="4C4D4C"/>
                </a:solidFill>
              </a:defRPr>
            </a:lvl2pPr>
            <a:lvl3pPr>
              <a:defRPr sz="2000">
                <a:solidFill>
                  <a:schemeClr val="accent6"/>
                </a:solidFill>
              </a:defRPr>
            </a:lvl3pPr>
            <a:lvl4pPr>
              <a:defRPr sz="2000">
                <a:solidFill>
                  <a:schemeClr val="accent6"/>
                </a:solidFill>
              </a:defRPr>
            </a:lvl4pPr>
            <a:lvl5pPr>
              <a:defRPr sz="2000">
                <a:solidFill>
                  <a:schemeClr val="accent6"/>
                </a:solidFill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endParaRPr lang="en-US" dirty="0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8FCADC7D-CFAE-D0EC-0BBB-45D49E9E25BF}"/>
              </a:ext>
            </a:extLst>
          </p:cNvPr>
          <p:cNvSpPr txBox="1"/>
          <p:nvPr userDrawn="1"/>
        </p:nvSpPr>
        <p:spPr>
          <a:xfrm>
            <a:off x="6140173" y="1127050"/>
            <a:ext cx="5201331" cy="400110"/>
          </a:xfrm>
          <a:prstGeom prst="rect">
            <a:avLst/>
          </a:prstGeom>
          <a:solidFill>
            <a:schemeClr val="accent3"/>
          </a:solidFill>
        </p:spPr>
        <p:txBody>
          <a:bodyPr wrap="square" rtlCol="0">
            <a:spAutoFit/>
          </a:bodyPr>
          <a:lstStyle/>
          <a:p>
            <a:r>
              <a:rPr lang="de-DE" sz="2000" dirty="0">
                <a:solidFill>
                  <a:schemeClr val="bg1"/>
                </a:solidFill>
              </a:rPr>
              <a:t>Untertitelformat bearbeiten</a:t>
            </a: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CFBFCFE1-A281-A2FB-6E30-43BF24D3340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83184" y="333375"/>
            <a:ext cx="10865960" cy="477837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2667">
                <a:solidFill>
                  <a:schemeClr val="accent1"/>
                </a:solidFill>
              </a:defRPr>
            </a:lvl1pPr>
          </a:lstStyle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2" name="Footer Placeholder 2">
            <a:extLst>
              <a:ext uri="{FF2B5EF4-FFF2-40B4-BE49-F238E27FC236}">
                <a16:creationId xmlns:a16="http://schemas.microsoft.com/office/drawing/2014/main" id="{CC06CE9B-759F-824A-C20A-5E10A93E48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487069" y="6354663"/>
            <a:ext cx="4114800" cy="314425"/>
          </a:xfrm>
          <a:prstGeom prst="rect">
            <a:avLst/>
          </a:prstGeom>
        </p:spPr>
        <p:txBody>
          <a:bodyPr anchor="ctr" anchorCtr="1"/>
          <a:lstStyle>
            <a:lvl1pPr algn="ctr">
              <a:defRPr sz="933">
                <a:solidFill>
                  <a:schemeClr val="accent3"/>
                </a:solidFill>
                <a:latin typeface="+mj-lt"/>
              </a:defRPr>
            </a:lvl1pPr>
          </a:lstStyle>
          <a:p>
            <a:r>
              <a:rPr lang="de-DE"/>
              <a:t>Titel oder Vortragender</a:t>
            </a:r>
            <a:endParaRPr lang="de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3CBACC-8192-9FCA-5352-7C6863BD15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06939" y="6352404"/>
            <a:ext cx="888247" cy="316684"/>
          </a:xfrm>
          <a:prstGeom prst="rect">
            <a:avLst/>
          </a:prstGeom>
        </p:spPr>
        <p:txBody>
          <a:bodyPr anchor="ctr" anchorCtr="1"/>
          <a:lstStyle>
            <a:lvl1pPr algn="r">
              <a:defRPr sz="933">
                <a:solidFill>
                  <a:schemeClr val="accent3"/>
                </a:solidFill>
              </a:defRPr>
            </a:lvl1pPr>
          </a:lstStyle>
          <a:p>
            <a:r>
              <a:rPr lang="de-DE"/>
              <a:t>Seite </a:t>
            </a:r>
            <a:fld id="{EBA229B5-7CFD-BC45-B1DD-7E8FA6FF2A01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2ACE8F90-C45D-8937-D1DB-0139A002D5F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970083" y="6354663"/>
            <a:ext cx="1311917" cy="3166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33">
                <a:solidFill>
                  <a:schemeClr val="accent3"/>
                </a:solidFill>
              </a:defRPr>
            </a:lvl1pPr>
          </a:lstStyle>
          <a:p>
            <a:fld id="{7C3CDC0F-71BF-B840-812C-9588125E0BFE}" type="datetime6">
              <a:rPr lang="de-DE" smtClean="0"/>
              <a:pPr/>
              <a:t>Oktober 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24412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132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586321" y="1117234"/>
            <a:ext cx="6080753" cy="4756918"/>
          </a:xfrm>
        </p:spPr>
        <p:txBody>
          <a:bodyPr/>
          <a:lstStyle>
            <a:lvl1pPr marL="228594" indent="-228594">
              <a:buFont typeface="Wingdings" pitchFamily="2" charset="2"/>
              <a:buChar char="§"/>
              <a:defRPr sz="1733">
                <a:solidFill>
                  <a:srgbClr val="4C4D4C"/>
                </a:solidFill>
              </a:defRPr>
            </a:lvl1pPr>
            <a:lvl2pPr marL="685783" indent="-228594">
              <a:buFont typeface="Wingdings" pitchFamily="2" charset="2"/>
              <a:buChar char="§"/>
              <a:defRPr sz="1733">
                <a:solidFill>
                  <a:srgbClr val="4C4D4C"/>
                </a:solidFill>
              </a:defRPr>
            </a:lvl2pPr>
            <a:lvl3pPr marL="1142971" indent="-228594">
              <a:buFont typeface="Wingdings" pitchFamily="2" charset="2"/>
              <a:buChar char="§"/>
              <a:defRPr sz="1733">
                <a:solidFill>
                  <a:srgbClr val="4C4D4C"/>
                </a:solidFill>
              </a:defRPr>
            </a:lvl3pPr>
            <a:lvl4pPr marL="1600160" indent="-228594">
              <a:buFont typeface="Wingdings" pitchFamily="2" charset="2"/>
              <a:buChar char="§"/>
              <a:defRPr sz="1733">
                <a:solidFill>
                  <a:srgbClr val="4C4D4C"/>
                </a:solidFill>
              </a:defRPr>
            </a:lvl4pPr>
            <a:lvl5pPr marL="2057349" indent="-228594">
              <a:buFont typeface="Wingdings" pitchFamily="2" charset="2"/>
              <a:buChar char="§"/>
              <a:defRPr sz="1733">
                <a:solidFill>
                  <a:srgbClr val="4C4D4C"/>
                </a:solidFill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80663" y="1120007"/>
            <a:ext cx="4538645" cy="4756918"/>
          </a:xfrm>
        </p:spPr>
        <p:txBody>
          <a:bodyPr>
            <a:normAutofit/>
          </a:bodyPr>
          <a:lstStyle>
            <a:lvl1pPr marL="0" indent="0">
              <a:buNone/>
              <a:defRPr sz="1733">
                <a:solidFill>
                  <a:srgbClr val="4C4D4C"/>
                </a:solidFill>
              </a:defRPr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210A2F76-5FE6-A2C9-8158-0253A4B2F1C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66763" y="602259"/>
            <a:ext cx="10878519" cy="477837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>
              <a:defRPr lang="en-US" sz="2667" dirty="0">
                <a:solidFill>
                  <a:schemeClr val="accent1"/>
                </a:solidFill>
              </a:defRPr>
            </a:lvl1pPr>
          </a:lstStyle>
          <a:p>
            <a:pPr lvl="0"/>
            <a:br>
              <a:rPr lang="de-DE" dirty="0"/>
            </a:br>
            <a:r>
              <a:rPr lang="de-DE" dirty="0"/>
              <a:t>Mastertitelformat </a:t>
            </a:r>
            <a:endParaRPr lang="en-US" dirty="0"/>
          </a:p>
        </p:txBody>
      </p:sp>
      <p:sp>
        <p:nvSpPr>
          <p:cNvPr id="2" name="Footer Placeholder 2">
            <a:extLst>
              <a:ext uri="{FF2B5EF4-FFF2-40B4-BE49-F238E27FC236}">
                <a16:creationId xmlns:a16="http://schemas.microsoft.com/office/drawing/2014/main" id="{595945F4-3FF9-3EFE-16B6-5F5982EA3FD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458957" y="6367937"/>
            <a:ext cx="4114800" cy="314425"/>
          </a:xfrm>
          <a:prstGeom prst="rect">
            <a:avLst/>
          </a:prstGeom>
        </p:spPr>
        <p:txBody>
          <a:bodyPr anchor="ctr" anchorCtr="1"/>
          <a:lstStyle>
            <a:lvl1pPr algn="ctr">
              <a:defRPr sz="933">
                <a:solidFill>
                  <a:schemeClr val="accent3"/>
                </a:solidFill>
                <a:latin typeface="+mj-lt"/>
              </a:defRPr>
            </a:lvl1pPr>
          </a:lstStyle>
          <a:p>
            <a:r>
              <a:rPr lang="de-DE"/>
              <a:t>Titel oder Vortragender</a:t>
            </a:r>
            <a:endParaRPr lang="de-DE" dirty="0"/>
          </a:p>
        </p:txBody>
      </p:sp>
      <p:sp>
        <p:nvSpPr>
          <p:cNvPr id="5" name="Slide Number Placeholder 3">
            <a:extLst>
              <a:ext uri="{FF2B5EF4-FFF2-40B4-BE49-F238E27FC236}">
                <a16:creationId xmlns:a16="http://schemas.microsoft.com/office/drawing/2014/main" id="{2C5FAE91-7171-D00B-D5B3-F231E3F8D15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78827" y="6365678"/>
            <a:ext cx="888247" cy="316684"/>
          </a:xfrm>
          <a:prstGeom prst="rect">
            <a:avLst/>
          </a:prstGeom>
        </p:spPr>
        <p:txBody>
          <a:bodyPr anchor="ctr" anchorCtr="1"/>
          <a:lstStyle>
            <a:lvl1pPr algn="r">
              <a:defRPr sz="933">
                <a:solidFill>
                  <a:schemeClr val="accent3"/>
                </a:solidFill>
              </a:defRPr>
            </a:lvl1pPr>
          </a:lstStyle>
          <a:p>
            <a:r>
              <a:rPr lang="de-DE"/>
              <a:t>Seite </a:t>
            </a:r>
            <a:fld id="{EBA229B5-7CFD-BC45-B1DD-7E8FA6FF2A01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83719207-9E67-A5A0-0AFB-800C561F983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941971" y="6367937"/>
            <a:ext cx="1311917" cy="3166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33">
                <a:solidFill>
                  <a:schemeClr val="accent3"/>
                </a:solidFill>
              </a:defRPr>
            </a:lvl1pPr>
          </a:lstStyle>
          <a:p>
            <a:fld id="{7C3CDC0F-71BF-B840-812C-9588125E0BFE}" type="datetime6">
              <a:rPr lang="de-DE" smtClean="0"/>
              <a:pPr/>
              <a:t>Oktober 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5761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132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497428" y="1125538"/>
            <a:ext cx="6135295" cy="4751387"/>
          </a:xfrm>
        </p:spPr>
        <p:txBody>
          <a:bodyPr anchor="t">
            <a:normAutofit/>
          </a:bodyPr>
          <a:lstStyle>
            <a:lvl1pPr marL="0" indent="0">
              <a:buNone/>
              <a:defRPr sz="1733">
                <a:solidFill>
                  <a:srgbClr val="4C4D4C"/>
                </a:solidFill>
              </a:defRPr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r>
              <a:rPr lang="de-DE" dirty="0"/>
              <a:t>Bild durch Klicken auf Symbol hinzufügen</a:t>
            </a:r>
            <a:endParaRPr lang="en-US" dirty="0"/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E6C6A265-800A-43D6-2F98-C10611F547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66763" y="1125538"/>
            <a:ext cx="4538645" cy="4751387"/>
          </a:xfrm>
        </p:spPr>
        <p:txBody>
          <a:bodyPr>
            <a:normAutofit/>
          </a:bodyPr>
          <a:lstStyle>
            <a:lvl1pPr marL="0" indent="0">
              <a:buNone/>
              <a:defRPr sz="1733">
                <a:solidFill>
                  <a:srgbClr val="4C4D4C"/>
                </a:solidFill>
              </a:defRPr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754FDCCD-A5AF-88A5-9D20-108CCA7A46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66763" y="333375"/>
            <a:ext cx="10865960" cy="477837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2667">
                <a:solidFill>
                  <a:schemeClr val="accent1"/>
                </a:solidFill>
              </a:defRPr>
            </a:lvl1pPr>
          </a:lstStyle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2" name="Footer Placeholder 2">
            <a:extLst>
              <a:ext uri="{FF2B5EF4-FFF2-40B4-BE49-F238E27FC236}">
                <a16:creationId xmlns:a16="http://schemas.microsoft.com/office/drawing/2014/main" id="{D19F5C56-FD7E-D515-80C0-7891D6A128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487069" y="6352404"/>
            <a:ext cx="4114800" cy="314425"/>
          </a:xfrm>
          <a:prstGeom prst="rect">
            <a:avLst/>
          </a:prstGeom>
        </p:spPr>
        <p:txBody>
          <a:bodyPr anchor="ctr" anchorCtr="1"/>
          <a:lstStyle>
            <a:lvl1pPr algn="ctr">
              <a:defRPr sz="933">
                <a:solidFill>
                  <a:schemeClr val="accent3"/>
                </a:solidFill>
                <a:latin typeface="+mj-lt"/>
              </a:defRPr>
            </a:lvl1pPr>
          </a:lstStyle>
          <a:p>
            <a:r>
              <a:rPr lang="de-DE"/>
              <a:t>Titel oder Vortragender</a:t>
            </a:r>
            <a:endParaRPr lang="de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F6BA88-315C-2F5A-C8CA-1B8CAE5AFF4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06939" y="6350145"/>
            <a:ext cx="888247" cy="316684"/>
          </a:xfrm>
          <a:prstGeom prst="rect">
            <a:avLst/>
          </a:prstGeom>
        </p:spPr>
        <p:txBody>
          <a:bodyPr anchor="ctr" anchorCtr="1"/>
          <a:lstStyle>
            <a:lvl1pPr algn="r">
              <a:defRPr sz="933">
                <a:solidFill>
                  <a:schemeClr val="accent3"/>
                </a:solidFill>
              </a:defRPr>
            </a:lvl1pPr>
          </a:lstStyle>
          <a:p>
            <a:r>
              <a:rPr lang="de-DE"/>
              <a:t>Seite </a:t>
            </a:r>
            <a:fld id="{EBA229B5-7CFD-BC45-B1DD-7E8FA6FF2A01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CE1B1380-8210-48A8-BB43-B42AD035E3D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970083" y="6352404"/>
            <a:ext cx="1311917" cy="3166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33">
                <a:solidFill>
                  <a:schemeClr val="accent3"/>
                </a:solidFill>
              </a:defRPr>
            </a:lvl1pPr>
          </a:lstStyle>
          <a:p>
            <a:fld id="{7C3CDC0F-71BF-B840-812C-9588125E0BFE}" type="datetime6">
              <a:rPr lang="de-DE" smtClean="0"/>
              <a:pPr/>
              <a:t>Oktober 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99151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folie + Zit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ubtitle 2">
            <a:extLst>
              <a:ext uri="{FF2B5EF4-FFF2-40B4-BE49-F238E27FC236}">
                <a16:creationId xmlns:a16="http://schemas.microsoft.com/office/drawing/2014/main" id="{CD230031-93FC-50BC-76F9-90A026F08730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66763" y="1126928"/>
            <a:ext cx="10865960" cy="480053"/>
          </a:xfrm>
        </p:spPr>
        <p:txBody>
          <a:bodyPr>
            <a:normAutofit/>
          </a:bodyPr>
          <a:lstStyle>
            <a:lvl1pPr marL="0" indent="0" algn="l">
              <a:buNone/>
              <a:defRPr sz="1733">
                <a:solidFill>
                  <a:srgbClr val="4C4D4C"/>
                </a:solidFill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de-DE" dirty="0"/>
              <a:t>Mastertitelformat bearbeiten</a:t>
            </a:r>
            <a:endParaRPr lang="en-US" dirty="0"/>
          </a:p>
        </p:txBody>
      </p:sp>
      <p:cxnSp>
        <p:nvCxnSpPr>
          <p:cNvPr id="11" name="Gerade Verbindung 10">
            <a:extLst>
              <a:ext uri="{FF2B5EF4-FFF2-40B4-BE49-F238E27FC236}">
                <a16:creationId xmlns:a16="http://schemas.microsoft.com/office/drawing/2014/main" id="{66364703-4655-3A8A-7A24-521B94AB028D}"/>
              </a:ext>
            </a:extLst>
          </p:cNvPr>
          <p:cNvCxnSpPr/>
          <p:nvPr userDrawn="1"/>
        </p:nvCxnSpPr>
        <p:spPr>
          <a:xfrm>
            <a:off x="863269" y="1797050"/>
            <a:ext cx="0" cy="960107"/>
          </a:xfrm>
          <a:prstGeom prst="line">
            <a:avLst/>
          </a:prstGeom>
          <a:ln/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5" name="Title 1">
            <a:extLst>
              <a:ext uri="{FF2B5EF4-FFF2-40B4-BE49-F238E27FC236}">
                <a16:creationId xmlns:a16="http://schemas.microsoft.com/office/drawing/2014/main" id="{D4537A4E-7ECF-DAE3-1691-53F73276FA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66763" y="333375"/>
            <a:ext cx="10865960" cy="477837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2667">
                <a:solidFill>
                  <a:schemeClr val="accent1"/>
                </a:solidFill>
              </a:defRPr>
            </a:lvl1pPr>
          </a:lstStyle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2" name="Footer Placeholder 2">
            <a:extLst>
              <a:ext uri="{FF2B5EF4-FFF2-40B4-BE49-F238E27FC236}">
                <a16:creationId xmlns:a16="http://schemas.microsoft.com/office/drawing/2014/main" id="{A9014802-BFAB-F5A2-B75F-9FB942E2C28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487069" y="6352404"/>
            <a:ext cx="4114800" cy="314425"/>
          </a:xfrm>
          <a:prstGeom prst="rect">
            <a:avLst/>
          </a:prstGeom>
        </p:spPr>
        <p:txBody>
          <a:bodyPr anchor="ctr" anchorCtr="1"/>
          <a:lstStyle>
            <a:lvl1pPr algn="ctr">
              <a:defRPr sz="933">
                <a:solidFill>
                  <a:schemeClr val="accent3"/>
                </a:solidFill>
                <a:latin typeface="+mj-lt"/>
              </a:defRPr>
            </a:lvl1pPr>
          </a:lstStyle>
          <a:p>
            <a:r>
              <a:rPr lang="de-DE"/>
              <a:t>Titel oder Vortragender</a:t>
            </a:r>
            <a:endParaRPr lang="de-DE" dirty="0"/>
          </a:p>
        </p:txBody>
      </p:sp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CAB30F97-4BE0-5CC1-D8E4-6176CBD1FA7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06939" y="6350145"/>
            <a:ext cx="888247" cy="316684"/>
          </a:xfrm>
          <a:prstGeom prst="rect">
            <a:avLst/>
          </a:prstGeom>
        </p:spPr>
        <p:txBody>
          <a:bodyPr anchor="ctr" anchorCtr="1"/>
          <a:lstStyle>
            <a:lvl1pPr algn="r">
              <a:defRPr sz="933">
                <a:solidFill>
                  <a:schemeClr val="accent3"/>
                </a:solidFill>
              </a:defRPr>
            </a:lvl1pPr>
          </a:lstStyle>
          <a:p>
            <a:r>
              <a:rPr lang="de-DE"/>
              <a:t>Seite </a:t>
            </a:r>
            <a:fld id="{EBA229B5-7CFD-BC45-B1DD-7E8FA6FF2A01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21B5A1-CC77-7628-2F4B-D2EF0A0DFA9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970083" y="6352404"/>
            <a:ext cx="1311917" cy="3166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33">
                <a:solidFill>
                  <a:schemeClr val="accent3"/>
                </a:solidFill>
              </a:defRPr>
            </a:lvl1pPr>
          </a:lstStyle>
          <a:p>
            <a:fld id="{7C3CDC0F-71BF-B840-812C-9588125E0BFE}" type="datetime6">
              <a:rPr lang="de-DE" smtClean="0"/>
              <a:pPr/>
              <a:t>Oktober 26</a:t>
            </a:fld>
            <a:endParaRPr lang="en-US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11EA5244-F51F-15E2-9ECD-098BAF45FF9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84250" y="1797050"/>
            <a:ext cx="10631488" cy="960438"/>
          </a:xfrm>
        </p:spPr>
        <p:txBody>
          <a:bodyPr>
            <a:normAutofit/>
          </a:bodyPr>
          <a:lstStyle>
            <a:lvl1pPr marL="0" indent="0">
              <a:buNone/>
              <a:defRPr sz="2100" i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/>
            <a:r>
              <a:rPr lang="de-DE" dirty="0"/>
              <a:t>Zitat bearbeiten</a:t>
            </a:r>
          </a:p>
        </p:txBody>
      </p:sp>
      <p:sp>
        <p:nvSpPr>
          <p:cNvPr id="12" name="Textplatzhalter 11">
            <a:extLst>
              <a:ext uri="{FF2B5EF4-FFF2-40B4-BE49-F238E27FC236}">
                <a16:creationId xmlns:a16="http://schemas.microsoft.com/office/drawing/2014/main" id="{93C54AE5-9A00-9A92-A46D-BB640118A21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66763" y="3206750"/>
            <a:ext cx="10848975" cy="2670175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 marL="457200" indent="0">
              <a:buFontTx/>
              <a:buNone/>
              <a:defRPr sz="1800">
                <a:solidFill>
                  <a:schemeClr val="tx1">
                    <a:lumMod val="85000"/>
                    <a:lumOff val="15000"/>
                  </a:schemeClr>
                </a:solidFill>
              </a:defRPr>
            </a:lvl2pPr>
            <a:lvl3pPr marL="914400" indent="0">
              <a:buFontTx/>
              <a:buNone/>
              <a:defRPr sz="1800">
                <a:solidFill>
                  <a:schemeClr val="tx1">
                    <a:lumMod val="85000"/>
                    <a:lumOff val="15000"/>
                  </a:schemeClr>
                </a:solidFill>
              </a:defRPr>
            </a:lvl3pPr>
            <a:lvl4pPr marL="1371600" indent="0">
              <a:buFontTx/>
              <a:buNone/>
              <a:defRPr sz="1800">
                <a:solidFill>
                  <a:schemeClr val="tx1">
                    <a:lumMod val="85000"/>
                    <a:lumOff val="15000"/>
                  </a:schemeClr>
                </a:solidFill>
              </a:defRPr>
            </a:lvl4pPr>
            <a:lvl5pPr marL="1828800" indent="0">
              <a:buFontTx/>
              <a:buNone/>
              <a:defRPr sz="1800">
                <a:solidFill>
                  <a:schemeClr val="tx1">
                    <a:lumMod val="85000"/>
                    <a:lumOff val="15000"/>
                  </a:schemeClr>
                </a:solidFill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41403692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132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2">
            <a:extLst>
              <a:ext uri="{FF2B5EF4-FFF2-40B4-BE49-F238E27FC236}">
                <a16:creationId xmlns:a16="http://schemas.microsoft.com/office/drawing/2014/main" id="{DE1D3F9E-CCAE-4466-A283-C2A9F0F342D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487069" y="6354663"/>
            <a:ext cx="4114800" cy="314425"/>
          </a:xfrm>
          <a:prstGeom prst="rect">
            <a:avLst/>
          </a:prstGeom>
        </p:spPr>
        <p:txBody>
          <a:bodyPr anchor="ctr" anchorCtr="1"/>
          <a:lstStyle>
            <a:lvl1pPr algn="ctr">
              <a:defRPr sz="933">
                <a:solidFill>
                  <a:schemeClr val="accent3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de-DE"/>
              <a:t>Titel oder Vortragender</a:t>
            </a:r>
            <a:endParaRPr lang="de-DE" dirty="0"/>
          </a:p>
        </p:txBody>
      </p:sp>
      <p:sp>
        <p:nvSpPr>
          <p:cNvPr id="6" name="Slide Number Placeholder 3">
            <a:extLst>
              <a:ext uri="{FF2B5EF4-FFF2-40B4-BE49-F238E27FC236}">
                <a16:creationId xmlns:a16="http://schemas.microsoft.com/office/drawing/2014/main" id="{ECBFD8B5-A5D3-47AF-94BC-02440AFB06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06939" y="6352404"/>
            <a:ext cx="888247" cy="316684"/>
          </a:xfrm>
          <a:prstGeom prst="rect">
            <a:avLst/>
          </a:prstGeom>
        </p:spPr>
        <p:txBody>
          <a:bodyPr anchor="ctr" anchorCtr="1"/>
          <a:lstStyle>
            <a:lvl1pPr algn="r">
              <a:defRPr sz="933">
                <a:solidFill>
                  <a:schemeClr val="accent3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de-DE"/>
              <a:t>Seite </a:t>
            </a:r>
            <a:fld id="{EBA229B5-7CFD-BC45-B1DD-7E8FA6FF2A01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6F82951B-5DE8-4179-9CDF-0C5072183A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970083" y="6354663"/>
            <a:ext cx="1311917" cy="3166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33">
                <a:solidFill>
                  <a:schemeClr val="accent3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7C3CDC0F-71BF-B840-812C-9588125E0BFE}" type="datetime6">
              <a:rPr lang="de-DE" smtClean="0"/>
              <a:pPr/>
              <a:t>Oktober 26</a:t>
            </a:fld>
            <a:endParaRPr lang="en-US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CE3557F-6723-8117-535B-4980C2C2A44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75320" y="1772529"/>
            <a:ext cx="10987087" cy="4104396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2000">
                <a:solidFill>
                  <a:srgbClr val="4C4D4C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FontTx/>
              <a:buNone/>
              <a:defRPr sz="180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914400" indent="0">
              <a:buFontTx/>
              <a:buNone/>
              <a:defRPr sz="180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1371600" indent="0">
              <a:buFontTx/>
              <a:buNone/>
              <a:defRPr sz="180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1828800" indent="0">
              <a:buFontTx/>
              <a:buNone/>
              <a:defRPr sz="180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881C9FEA-638E-55A9-B425-573F822E3E8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86611" y="815364"/>
            <a:ext cx="11120437" cy="858837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2600">
                <a:solidFill>
                  <a:schemeClr val="accent2"/>
                </a:solidFill>
                <a:latin typeface="+mj-lt"/>
                <a:cs typeface="Calibri" panose="020F0502020204030204" pitchFamily="34" charset="0"/>
              </a:defRPr>
            </a:lvl1pPr>
          </a:lstStyle>
          <a:p>
            <a:pPr lvl="0"/>
            <a:r>
              <a:rPr lang="de-DE" dirty="0"/>
              <a:t>Titeltext bearbeiten</a:t>
            </a:r>
          </a:p>
        </p:txBody>
      </p:sp>
    </p:spTree>
    <p:extLst>
      <p:ext uri="{BB962C8B-B14F-4D97-AF65-F5344CB8AC3E}">
        <p14:creationId xmlns:p14="http://schemas.microsoft.com/office/powerpoint/2010/main" val="31676531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ckblatt Social Media+ww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07090AD0-FD2A-CA7D-BBD5-5B2FCD0D817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240682" cy="68853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8136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jp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C3CDC0F-71BF-B840-812C-9588125E0BFE}" type="datetime6">
              <a:rPr lang="de-DE" smtClean="0"/>
              <a:t>Oktober 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de-DE"/>
              <a:t>Titel oder Vortragender</a:t>
            </a:r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de-DE"/>
              <a:t>Seite </a:t>
            </a:r>
            <a:fld id="{EBA229B5-7CFD-BC45-B1DD-7E8FA6FF2A01}" type="slidenum">
              <a:rPr lang="de-DE" smtClean="0"/>
              <a:pPr/>
              <a:t>‹#›</a:t>
            </a:fld>
            <a:endParaRPr lang="de-DE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218396C8-6250-4EB9-A9AF-4941536C7682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rcRect/>
          <a:stretch/>
        </p:blipFill>
        <p:spPr>
          <a:xfrm>
            <a:off x="0" y="0"/>
            <a:ext cx="12250813" cy="6891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97001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1" r:id="rId1"/>
    <p:sldLayoutId id="2147483742" r:id="rId2"/>
    <p:sldLayoutId id="2147483706" r:id="rId3"/>
    <p:sldLayoutId id="2147483708" r:id="rId4"/>
    <p:sldLayoutId id="2147483721" r:id="rId5"/>
    <p:sldLayoutId id="2147483712" r:id="rId6"/>
    <p:sldLayoutId id="2147483713" r:id="rId7"/>
    <p:sldLayoutId id="2147483714" r:id="rId8"/>
    <p:sldLayoutId id="2147483735" r:id="rId9"/>
    <p:sldLayoutId id="2147483720" r:id="rId10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709" userDrawn="1">
          <p15:clr>
            <a:srgbClr val="F26B43"/>
          </p15:clr>
        </p15:guide>
        <p15:guide id="2" pos="483" userDrawn="1">
          <p15:clr>
            <a:srgbClr val="F26B43"/>
          </p15:clr>
        </p15:guide>
        <p15:guide id="3" orient="horz" pos="210" userDrawn="1">
          <p15:clr>
            <a:srgbClr val="F26B43"/>
          </p15:clr>
        </p15:guide>
        <p15:guide id="4" orient="horz" pos="3702" userDrawn="1">
          <p15:clr>
            <a:srgbClr val="F26B43"/>
          </p15:clr>
        </p15:guide>
        <p15:guide id="5" orient="horz" pos="4201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90557BE-3D57-486E-B62E-9294FE4B14C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425251" y="6352404"/>
            <a:ext cx="4114800" cy="314425"/>
          </a:xfrm>
        </p:spPr>
        <p:txBody>
          <a:bodyPr/>
          <a:lstStyle/>
          <a:p>
            <a:r>
              <a:rPr lang="de-DE" dirty="0"/>
              <a:t>Knapke &amp; Jacobsohn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A9A69A4-A408-41D6-A2A4-51B2066B324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45121" y="6350145"/>
            <a:ext cx="888247" cy="316684"/>
          </a:xfrm>
        </p:spPr>
        <p:txBody>
          <a:bodyPr/>
          <a:lstStyle/>
          <a:p>
            <a:r>
              <a:rPr lang="de-DE"/>
              <a:t>Seite </a:t>
            </a:r>
            <a:fld id="{EBA229B5-7CFD-BC45-B1DD-7E8FA6FF2A01}" type="slidenum">
              <a:rPr lang="de-DE" smtClean="0"/>
              <a:pPr/>
              <a:t>1</a:t>
            </a:fld>
            <a:endParaRPr lang="de-DE" dirty="0"/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97F5EE33-65E8-40A5-B6A0-D333CBE017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908265" y="6352404"/>
            <a:ext cx="1311917" cy="316684"/>
          </a:xfrm>
        </p:spPr>
        <p:txBody>
          <a:bodyPr/>
          <a:lstStyle/>
          <a:p>
            <a:fld id="{7C3CDC0F-71BF-B840-812C-9588125E0BFE}" type="datetime6">
              <a:rPr lang="de-DE" smtClean="0"/>
              <a:pPr/>
              <a:t>Oktober 26</a:t>
            </a:fld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3A5DF4B-BDA5-B3A8-5D4D-ED375113BC09}"/>
              </a:ext>
            </a:extLst>
          </p:cNvPr>
          <p:cNvSpPr txBox="1"/>
          <p:nvPr/>
        </p:nvSpPr>
        <p:spPr>
          <a:xfrm>
            <a:off x="2225409" y="4000649"/>
            <a:ext cx="851971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T" sz="900" b="1" dirty="0">
                <a:cs typeface="Lava Devanagari" pitchFamily="2" charset="77"/>
              </a:rPr>
              <a:t>Abbildung 1. </a:t>
            </a:r>
            <a:r>
              <a:rPr lang="en-AT" sz="900" dirty="0">
                <a:cs typeface="Lava Devanagari" pitchFamily="2" charset="77"/>
              </a:rPr>
              <a:t>Standorte der drei automatisierten Wetterstationen Bella Vista (2805 m a.s.l.), Latschbloder (2929 m a.s.l.) und Proviantdepot (2737 m a.s.l.) (Eigene Darstellung). </a:t>
            </a:r>
            <a:endParaRPr lang="en-AT" sz="900" b="1" dirty="0">
              <a:cs typeface="Lava Devanagari" pitchFamily="2" charset="77"/>
            </a:endParaRPr>
          </a:p>
        </p:txBody>
      </p:sp>
      <p:sp>
        <p:nvSpPr>
          <p:cNvPr id="12" name="Titel 21">
            <a:extLst>
              <a:ext uri="{FF2B5EF4-FFF2-40B4-BE49-F238E27FC236}">
                <a16:creationId xmlns:a16="http://schemas.microsoft.com/office/drawing/2014/main" id="{F8741EE0-412A-D502-71D0-66257968EF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74215" y="4576524"/>
            <a:ext cx="10822100" cy="1773621"/>
          </a:xfrm>
        </p:spPr>
        <p:txBody>
          <a:bodyPr/>
          <a:lstStyle/>
          <a:p>
            <a:pPr algn="ctr">
              <a:lnSpc>
                <a:spcPct val="150000"/>
              </a:lnSpc>
            </a:pPr>
            <a:r>
              <a:rPr lang="de-AT" sz="3200" b="1" u="sng" dirty="0">
                <a:latin typeface="+mn-lt"/>
                <a:cs typeface="Lava Devanagari" pitchFamily="2" charset="77"/>
              </a:rPr>
              <a:t>Datenanalyse der Schneehöhe und SWE im Hochgebirge</a:t>
            </a:r>
            <a:br>
              <a:rPr lang="de-AT" b="1" u="sng" dirty="0">
                <a:latin typeface="+mn-lt"/>
                <a:cs typeface="Lava Devanagari" pitchFamily="2" charset="77"/>
              </a:rPr>
            </a:br>
            <a:r>
              <a:rPr lang="en-AT" sz="2000" b="0" dirty="0">
                <a:latin typeface="+mn-lt"/>
                <a:cs typeface="Lava Devanagari" pitchFamily="2" charset="77"/>
              </a:rPr>
              <a:t>Vergleich der Wetterstationen Bella Vista, Latschbloder und Proviantdepot im Rofental </a:t>
            </a:r>
            <a:br>
              <a:rPr lang="en-AT" sz="2000" b="0" dirty="0">
                <a:latin typeface="+mn-lt"/>
                <a:cs typeface="Lava Devanagari" pitchFamily="2" charset="77"/>
              </a:rPr>
            </a:br>
            <a:r>
              <a:rPr lang="en-AT" sz="1600" b="0" dirty="0">
                <a:latin typeface="+mn-lt"/>
                <a:cs typeface="Lava Devanagari" pitchFamily="2" charset="77"/>
              </a:rPr>
              <a:t>Jonas </a:t>
            </a:r>
            <a:r>
              <a:rPr lang="en-AT" sz="1600" b="1" dirty="0">
                <a:latin typeface="+mn-lt"/>
                <a:cs typeface="Lava Devanagari" pitchFamily="2" charset="77"/>
              </a:rPr>
              <a:t>Knapke</a:t>
            </a:r>
            <a:r>
              <a:rPr lang="en-AT" sz="1600" b="0" dirty="0">
                <a:latin typeface="+mn-lt"/>
                <a:cs typeface="Lava Devanagari" pitchFamily="2" charset="77"/>
              </a:rPr>
              <a:t> &amp; Franziska </a:t>
            </a:r>
            <a:r>
              <a:rPr lang="en-AT" sz="1600" b="1" dirty="0">
                <a:latin typeface="+mn-lt"/>
                <a:cs typeface="Lava Devanagari" pitchFamily="2" charset="77"/>
              </a:rPr>
              <a:t>Jacobsohn</a:t>
            </a:r>
            <a:r>
              <a:rPr lang="en-AT" sz="1600" b="0" dirty="0">
                <a:latin typeface="+mn-lt"/>
                <a:cs typeface="Lava Devanagari" pitchFamily="2" charset="77"/>
              </a:rPr>
              <a:t> (20.10.2026), EU Gebirgsforschung </a:t>
            </a:r>
            <a:br>
              <a:rPr lang="de-AT" b="1" dirty="0"/>
            </a:br>
            <a:endParaRPr lang="de-AT" b="1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4D34F501-39FD-4D0D-89C4-0622F37ED15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161" b="5690"/>
          <a:stretch>
            <a:fillRect/>
          </a:stretch>
        </p:blipFill>
        <p:spPr>
          <a:xfrm>
            <a:off x="3449256" y="141614"/>
            <a:ext cx="5440287" cy="38275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78171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175FAA2-2214-9769-CE64-0CA5F17B618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424606" y="6352404"/>
            <a:ext cx="4114800" cy="314425"/>
          </a:xfrm>
        </p:spPr>
        <p:txBody>
          <a:bodyPr/>
          <a:lstStyle/>
          <a:p>
            <a:r>
              <a:rPr lang="de-DE" dirty="0"/>
              <a:t>Knapke &amp; Jacobsohn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A57763B-BFD4-902E-F04C-1B92CA9FF12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44476" y="6350145"/>
            <a:ext cx="888247" cy="316684"/>
          </a:xfrm>
        </p:spPr>
        <p:txBody>
          <a:bodyPr/>
          <a:lstStyle/>
          <a:p>
            <a:r>
              <a:rPr lang="de-DE" dirty="0"/>
              <a:t>Seite </a:t>
            </a:r>
            <a:fld id="{EBA229B5-7CFD-BC45-B1DD-7E8FA6FF2A01}" type="slidenum">
              <a:rPr lang="de-DE" smtClean="0"/>
              <a:pPr/>
              <a:t>2</a:t>
            </a:fld>
            <a:endParaRPr lang="de-DE" dirty="0"/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6131CB8E-1418-4F69-CA23-932227F4657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907620" y="6352404"/>
            <a:ext cx="1311917" cy="316684"/>
          </a:xfrm>
        </p:spPr>
        <p:txBody>
          <a:bodyPr/>
          <a:lstStyle/>
          <a:p>
            <a:fld id="{7C3CDC0F-71BF-B840-812C-9588125E0BFE}" type="datetime6">
              <a:rPr lang="de-DE" smtClean="0"/>
              <a:pPr/>
              <a:t>Oktober 26</a:t>
            </a:fld>
            <a:endParaRPr lang="en-US" dirty="0"/>
          </a:p>
        </p:txBody>
      </p:sp>
      <p:pic>
        <p:nvPicPr>
          <p:cNvPr id="17" name="Content Placeholder 12">
            <a:extLst>
              <a:ext uri="{FF2B5EF4-FFF2-40B4-BE49-F238E27FC236}">
                <a16:creationId xmlns:a16="http://schemas.microsoft.com/office/drawing/2014/main" id="{78089AA1-DD45-DD05-FB9C-5A8E369AD2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6349" y="1276446"/>
            <a:ext cx="9076514" cy="4487831"/>
          </a:xfrm>
          <a:prstGeom prst="rect">
            <a:avLst/>
          </a:prstGeom>
        </p:spPr>
      </p:pic>
      <p:sp>
        <p:nvSpPr>
          <p:cNvPr id="21" name="Titel 6">
            <a:extLst>
              <a:ext uri="{FF2B5EF4-FFF2-40B4-BE49-F238E27FC236}">
                <a16:creationId xmlns:a16="http://schemas.microsoft.com/office/drawing/2014/main" id="{EC6137AE-090B-4BFB-7992-2CE9BB21D1CB}"/>
              </a:ext>
            </a:extLst>
          </p:cNvPr>
          <p:cNvSpPr txBox="1">
            <a:spLocks/>
          </p:cNvSpPr>
          <p:nvPr/>
        </p:nvSpPr>
        <p:spPr>
          <a:xfrm>
            <a:off x="663020" y="682316"/>
            <a:ext cx="10865960" cy="477837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667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3200" b="1">
                <a:cs typeface="Lava Devanagari" pitchFamily="2" charset="77"/>
              </a:rPr>
              <a:t>1. Zeitreihe der Schneehöhe </a:t>
            </a:r>
            <a:endParaRPr lang="de-DE" sz="3200" b="1" dirty="0">
              <a:cs typeface="Lava Devanagari" pitchFamily="2" charset="7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126615A-D7A6-8122-C64A-0A8703D9DB5D}"/>
              </a:ext>
            </a:extLst>
          </p:cNvPr>
          <p:cNvSpPr txBox="1"/>
          <p:nvPr/>
        </p:nvSpPr>
        <p:spPr>
          <a:xfrm>
            <a:off x="3992168" y="5787837"/>
            <a:ext cx="586098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T" sz="900" b="1" dirty="0">
                <a:cs typeface="Lava Devanagari" pitchFamily="2" charset="77"/>
              </a:rPr>
              <a:t>Abbildung 2. </a:t>
            </a:r>
            <a:r>
              <a:rPr lang="en-AT" sz="900" dirty="0">
                <a:cs typeface="Lava Devanagari" pitchFamily="2" charset="77"/>
              </a:rPr>
              <a:t>Schneehöhe der drei Stationen zwischen 2017 und 2025 (Jacobsohn, 2026). </a:t>
            </a:r>
            <a:endParaRPr lang="en-AT" sz="900" b="1" dirty="0">
              <a:cs typeface="Lava Devanagari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1755726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807D87-B58F-889D-74E4-E7A1EC37F4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77DF4A1A-8770-DA52-A33B-1ADC77E71F6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63020" y="682316"/>
            <a:ext cx="9152312" cy="477837"/>
          </a:xfrm>
        </p:spPr>
        <p:txBody>
          <a:bodyPr/>
          <a:lstStyle/>
          <a:p>
            <a:r>
              <a:rPr lang="de-DE" sz="3200" b="1" dirty="0">
                <a:cs typeface="Lava Devanagari" pitchFamily="2" charset="77"/>
              </a:rPr>
              <a:t>1. Zeitreihe der Schneehöhe 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B3A833D-4173-6EA9-6F59-2AFB11EA4B6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424606" y="6352404"/>
            <a:ext cx="4114800" cy="314425"/>
          </a:xfrm>
        </p:spPr>
        <p:txBody>
          <a:bodyPr/>
          <a:lstStyle/>
          <a:p>
            <a:r>
              <a:rPr lang="de-DE" dirty="0"/>
              <a:t>Knapke &amp; Jacobsohn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2A3DE07-335F-6659-C974-F0593A901E7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44476" y="6350145"/>
            <a:ext cx="888247" cy="316684"/>
          </a:xfrm>
        </p:spPr>
        <p:txBody>
          <a:bodyPr/>
          <a:lstStyle/>
          <a:p>
            <a:r>
              <a:rPr lang="de-DE" dirty="0"/>
              <a:t>Seite </a:t>
            </a:r>
            <a:fld id="{EBA229B5-7CFD-BC45-B1DD-7E8FA6FF2A01}" type="slidenum">
              <a:rPr lang="de-DE" smtClean="0"/>
              <a:pPr/>
              <a:t>3</a:t>
            </a:fld>
            <a:endParaRPr lang="de-DE" dirty="0"/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9A24926E-6AE9-4B54-D8B4-A075B4F8C1F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907620" y="6352404"/>
            <a:ext cx="1311917" cy="316684"/>
          </a:xfrm>
        </p:spPr>
        <p:txBody>
          <a:bodyPr/>
          <a:lstStyle/>
          <a:p>
            <a:fld id="{7C3CDC0F-71BF-B840-812C-9588125E0BFE}" type="datetime6">
              <a:rPr lang="de-DE" smtClean="0"/>
              <a:pPr/>
              <a:t>Oktober 26</a:t>
            </a:fld>
            <a:endParaRPr lang="en-US" dirty="0"/>
          </a:p>
        </p:txBody>
      </p:sp>
      <p:pic>
        <p:nvPicPr>
          <p:cNvPr id="17" name="Content Placeholder 12">
            <a:extLst>
              <a:ext uri="{FF2B5EF4-FFF2-40B4-BE49-F238E27FC236}">
                <a16:creationId xmlns:a16="http://schemas.microsoft.com/office/drawing/2014/main" id="{22B774D9-7A46-7C07-88AB-2E1AAA646B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72943" y="4102729"/>
            <a:ext cx="3959780" cy="195789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51A6AC2-5A63-5364-44F3-F68BD647FDCB}"/>
              </a:ext>
            </a:extLst>
          </p:cNvPr>
          <p:cNvSpPr txBox="1"/>
          <p:nvPr/>
        </p:nvSpPr>
        <p:spPr>
          <a:xfrm>
            <a:off x="551867" y="1302867"/>
            <a:ext cx="11453866" cy="31540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itchFamily="2" charset="2"/>
              <a:buChar char="Ø"/>
            </a:pPr>
            <a:r>
              <a:rPr lang="en-AT" dirty="0"/>
              <a:t>Länge der Zeitreihen verschieden (nur neue Bella Vista dargestellt)</a:t>
            </a:r>
          </a:p>
          <a:p>
            <a:pPr marL="285750" indent="-285750">
              <a:lnSpc>
                <a:spcPct val="200000"/>
              </a:lnSpc>
              <a:buFont typeface="Wingdings" pitchFamily="2" charset="2"/>
              <a:buChar char="Ø"/>
            </a:pPr>
            <a:r>
              <a:rPr lang="en-AT" dirty="0"/>
              <a:t>Bella Vista höchste Werte </a:t>
            </a:r>
            <a:r>
              <a:rPr lang="en-AT" dirty="0">
                <a:sym typeface="Wingdings" pitchFamily="2" charset="2"/>
              </a:rPr>
              <a:t> </a:t>
            </a:r>
            <a:r>
              <a:rPr lang="en-AT" b="1" i="1" dirty="0">
                <a:sym typeface="Wingdings" pitchFamily="2" charset="2"/>
              </a:rPr>
              <a:t>geschützte Lage und Schneeeinstrag durch Wind </a:t>
            </a:r>
            <a:r>
              <a:rPr lang="en-AT" sz="1200" i="1" dirty="0">
                <a:sym typeface="Wingdings" pitchFamily="2" charset="2"/>
              </a:rPr>
              <a:t>(Warscher et al., 2024) </a:t>
            </a:r>
          </a:p>
          <a:p>
            <a:pPr marL="285750" indent="-285750">
              <a:lnSpc>
                <a:spcPct val="200000"/>
              </a:lnSpc>
              <a:buFont typeface="Wingdings" pitchFamily="2" charset="2"/>
              <a:buChar char="Ø"/>
            </a:pPr>
            <a:r>
              <a:rPr lang="en-AT" dirty="0">
                <a:sym typeface="Wingdings" pitchFamily="2" charset="2"/>
              </a:rPr>
              <a:t>Latschbloder geringste Werte  </a:t>
            </a:r>
            <a:r>
              <a:rPr lang="en-AT" b="1" i="1" dirty="0">
                <a:sym typeface="Wingdings" pitchFamily="2" charset="2"/>
              </a:rPr>
              <a:t>Schneedecke wird möglicherweise durch Wind abgetragen da exponiertere Lage </a:t>
            </a:r>
            <a:r>
              <a:rPr lang="en-AT" sz="1200" i="1" dirty="0">
                <a:sym typeface="Wingdings" pitchFamily="2" charset="2"/>
              </a:rPr>
              <a:t>(Warscher et al., 2024) </a:t>
            </a:r>
          </a:p>
          <a:p>
            <a:pPr marL="285750" indent="-285750">
              <a:lnSpc>
                <a:spcPct val="200000"/>
              </a:lnSpc>
              <a:buFont typeface="Wingdings" pitchFamily="2" charset="2"/>
              <a:buChar char="Ø"/>
            </a:pPr>
            <a:r>
              <a:rPr lang="en-AT" dirty="0"/>
              <a:t>Erheblicher Unterschied zwischen Latschbloder und Proviantdepot (2019 / 2020) </a:t>
            </a:r>
            <a:r>
              <a:rPr lang="en-AT" dirty="0">
                <a:sym typeface="Wingdings" pitchFamily="2" charset="2"/>
              </a:rPr>
              <a:t> </a:t>
            </a:r>
            <a:r>
              <a:rPr lang="en-AT" b="1" i="1" dirty="0">
                <a:sym typeface="Wingdings" pitchFamily="2" charset="2"/>
              </a:rPr>
              <a:t>Winddeportation, Niederschlagsverteilung</a:t>
            </a:r>
            <a:endParaRPr lang="en-AT" b="1" i="1" dirty="0"/>
          </a:p>
        </p:txBody>
      </p:sp>
    </p:spTree>
    <p:extLst>
      <p:ext uri="{BB962C8B-B14F-4D97-AF65-F5344CB8AC3E}">
        <p14:creationId xmlns:p14="http://schemas.microsoft.com/office/powerpoint/2010/main" val="20818475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A94087-EA3D-C14C-7F05-29D33C920C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B7886320-29B9-D279-0F92-6FAEEF1F2B3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63020" y="682316"/>
            <a:ext cx="9152312" cy="477837"/>
          </a:xfrm>
        </p:spPr>
        <p:txBody>
          <a:bodyPr/>
          <a:lstStyle/>
          <a:p>
            <a:r>
              <a:rPr lang="de-DE" sz="3200" b="1" dirty="0">
                <a:cs typeface="Lava Devanagari" pitchFamily="2" charset="77"/>
              </a:rPr>
              <a:t>2. Zeitreihe vom SWE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FCAA08D5-6BAE-EB52-543A-65B50B154F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424606" y="6352404"/>
            <a:ext cx="4114800" cy="314425"/>
          </a:xfrm>
        </p:spPr>
        <p:txBody>
          <a:bodyPr/>
          <a:lstStyle/>
          <a:p>
            <a:r>
              <a:rPr lang="de-DE" dirty="0"/>
              <a:t>Knapke &amp; Jacobsohn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E83CCC8-9837-EA16-58B5-AE304B29AF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44476" y="6350145"/>
            <a:ext cx="888247" cy="316684"/>
          </a:xfrm>
        </p:spPr>
        <p:txBody>
          <a:bodyPr/>
          <a:lstStyle/>
          <a:p>
            <a:r>
              <a:rPr lang="de-DE" dirty="0"/>
              <a:t>Seite </a:t>
            </a:r>
            <a:fld id="{EBA229B5-7CFD-BC45-B1DD-7E8FA6FF2A01}" type="slidenum">
              <a:rPr lang="de-DE" smtClean="0"/>
              <a:pPr/>
              <a:t>4</a:t>
            </a:fld>
            <a:endParaRPr lang="de-DE" dirty="0"/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D38C9D08-FB10-4C2A-4DB6-4FDF5AD1C39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907620" y="6352404"/>
            <a:ext cx="1311917" cy="316684"/>
          </a:xfrm>
        </p:spPr>
        <p:txBody>
          <a:bodyPr/>
          <a:lstStyle/>
          <a:p>
            <a:fld id="{7C3CDC0F-71BF-B840-812C-9588125E0BFE}" type="datetime6">
              <a:rPr lang="de-DE" smtClean="0"/>
              <a:pPr/>
              <a:t>Oktober 26</a:t>
            </a:fld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1F447F7-5C96-68EB-BD94-39CF274889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1968" y="1228813"/>
            <a:ext cx="9208063" cy="457020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A4F2FEE-B8CF-1862-3637-9EEBA1845E35}"/>
              </a:ext>
            </a:extLst>
          </p:cNvPr>
          <p:cNvSpPr txBox="1"/>
          <p:nvPr/>
        </p:nvSpPr>
        <p:spPr>
          <a:xfrm>
            <a:off x="3942293" y="5825937"/>
            <a:ext cx="586098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T" sz="900" b="1" dirty="0">
                <a:cs typeface="Lava Devanagari" pitchFamily="2" charset="77"/>
              </a:rPr>
              <a:t>Abbildung 3. </a:t>
            </a:r>
            <a:r>
              <a:rPr lang="en-AT" sz="900" dirty="0">
                <a:cs typeface="Lava Devanagari" pitchFamily="2" charset="77"/>
              </a:rPr>
              <a:t>SWE der Stationen Bella Vista und Proviantdepot zwischen 2019 und 2025 (Jacobsohn, 2026). </a:t>
            </a:r>
            <a:endParaRPr lang="en-AT" sz="900" b="1" dirty="0">
              <a:cs typeface="Lava Devanagari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6849705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EFDB39-103C-EC92-7E36-97FCA4A8D5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165598BB-D431-015F-8430-F01283E1AE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97287" y="1380816"/>
            <a:ext cx="2486580" cy="477837"/>
          </a:xfrm>
        </p:spPr>
        <p:txBody>
          <a:bodyPr/>
          <a:lstStyle/>
          <a:p>
            <a:r>
              <a:rPr lang="de-DE" sz="3200" b="1" dirty="0">
                <a:cs typeface="Lava Devanagari" pitchFamily="2" charset="77"/>
              </a:rPr>
              <a:t>3. Statistische Analyse von SH und SWE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6EF2610-843C-2B25-31EB-AF702E9533D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424606" y="6352404"/>
            <a:ext cx="4114800" cy="314425"/>
          </a:xfrm>
        </p:spPr>
        <p:txBody>
          <a:bodyPr/>
          <a:lstStyle/>
          <a:p>
            <a:r>
              <a:rPr lang="de-DE" dirty="0"/>
              <a:t>Knapke &amp; Jacobsohn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BDBA19D-D36E-5A48-B156-419F50DDC23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44476" y="6350145"/>
            <a:ext cx="888247" cy="316684"/>
          </a:xfrm>
        </p:spPr>
        <p:txBody>
          <a:bodyPr/>
          <a:lstStyle/>
          <a:p>
            <a:r>
              <a:rPr lang="de-DE" dirty="0"/>
              <a:t>Seite </a:t>
            </a:r>
            <a:fld id="{EBA229B5-7CFD-BC45-B1DD-7E8FA6FF2A01}" type="slidenum">
              <a:rPr lang="de-DE" smtClean="0"/>
              <a:pPr/>
              <a:t>5</a:t>
            </a:fld>
            <a:endParaRPr lang="de-DE" dirty="0"/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04FEB22A-2020-3C60-D9C8-5B919085FC5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907620" y="6352404"/>
            <a:ext cx="1311917" cy="316684"/>
          </a:xfrm>
        </p:spPr>
        <p:txBody>
          <a:bodyPr/>
          <a:lstStyle/>
          <a:p>
            <a:fld id="{7C3CDC0F-71BF-B840-812C-9588125E0BFE}" type="datetime6">
              <a:rPr lang="de-DE" smtClean="0"/>
              <a:pPr/>
              <a:t>Oktober 26</a:t>
            </a:fld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14616CF-78BB-65A1-FC56-6FD628688031}"/>
              </a:ext>
            </a:extLst>
          </p:cNvPr>
          <p:cNvSpPr txBox="1"/>
          <p:nvPr/>
        </p:nvSpPr>
        <p:spPr>
          <a:xfrm rot="16200000">
            <a:off x="-250968" y="3006246"/>
            <a:ext cx="586098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T" sz="900" b="1" dirty="0">
                <a:cs typeface="Lava Devanagari" pitchFamily="2" charset="77"/>
              </a:rPr>
              <a:t>Abbildung 4. </a:t>
            </a:r>
            <a:r>
              <a:rPr lang="en-AT" sz="900" dirty="0">
                <a:cs typeface="Lava Devanagari" pitchFamily="2" charset="77"/>
              </a:rPr>
              <a:t>Regressionsanalyse von SWE und SH (Jacobsohn, 2026). </a:t>
            </a:r>
            <a:endParaRPr lang="en-AT" sz="900" b="1" dirty="0">
              <a:cs typeface="Lava Devanagari" pitchFamily="2" charset="77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C62D7C8-0342-A9A1-4EEE-152F60DDED9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1241" t="6698" r="-311"/>
          <a:stretch>
            <a:fillRect/>
          </a:stretch>
        </p:blipFill>
        <p:spPr>
          <a:xfrm>
            <a:off x="2794939" y="-2259"/>
            <a:ext cx="9301597" cy="66690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15121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865733-8998-2735-878D-A3C1BAA1DE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EEAE74CE-A650-3298-59C3-A06F754A381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7786" y="568016"/>
            <a:ext cx="6994113" cy="477837"/>
          </a:xfrm>
        </p:spPr>
        <p:txBody>
          <a:bodyPr/>
          <a:lstStyle/>
          <a:p>
            <a:r>
              <a:rPr lang="de-DE" sz="3200" b="1" dirty="0">
                <a:cs typeface="Lava Devanagari" pitchFamily="2" charset="77"/>
              </a:rPr>
              <a:t>3. Statistische Analyse von SH und SWE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BF57ED5-968F-437B-B990-6DD389FE7D5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424606" y="6352404"/>
            <a:ext cx="4114800" cy="314425"/>
          </a:xfrm>
        </p:spPr>
        <p:txBody>
          <a:bodyPr/>
          <a:lstStyle/>
          <a:p>
            <a:r>
              <a:rPr lang="de-DE" dirty="0"/>
              <a:t>Knapke &amp; Jacobsohn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3B13B96-8E9E-EBBB-F559-1AF5A87363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44476" y="6350145"/>
            <a:ext cx="888247" cy="316684"/>
          </a:xfrm>
        </p:spPr>
        <p:txBody>
          <a:bodyPr/>
          <a:lstStyle/>
          <a:p>
            <a:r>
              <a:rPr lang="de-DE" dirty="0"/>
              <a:t>Seite </a:t>
            </a:r>
            <a:fld id="{EBA229B5-7CFD-BC45-B1DD-7E8FA6FF2A01}" type="slidenum">
              <a:rPr lang="de-DE" smtClean="0"/>
              <a:pPr/>
              <a:t>6</a:t>
            </a:fld>
            <a:endParaRPr lang="de-DE" dirty="0"/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AB98C493-55EE-9FAA-F7EF-984BBD1FD24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907620" y="6352404"/>
            <a:ext cx="1311917" cy="316684"/>
          </a:xfrm>
        </p:spPr>
        <p:txBody>
          <a:bodyPr/>
          <a:lstStyle/>
          <a:p>
            <a:fld id="{7C3CDC0F-71BF-B840-812C-9588125E0BFE}" type="datetime6">
              <a:rPr lang="de-DE" smtClean="0"/>
              <a:pPr/>
              <a:t>Oktober 26</a:t>
            </a:fld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2F89E37-FA71-D2A7-4060-90B30C01BA1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1241" t="-1680" r="-311"/>
          <a:stretch>
            <a:fillRect/>
          </a:stretch>
        </p:blipFill>
        <p:spPr>
          <a:xfrm>
            <a:off x="8654599" y="1714709"/>
            <a:ext cx="2949615" cy="230471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A7F092C-5175-E3B2-EC1E-75122B2A554A}"/>
                  </a:ext>
                </a:extLst>
              </p:cNvPr>
              <p:cNvSpPr txBox="1"/>
              <p:nvPr/>
            </p:nvSpPr>
            <p:spPr>
              <a:xfrm>
                <a:off x="587786" y="1168948"/>
                <a:ext cx="11235913" cy="469577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itchFamily="2" charset="2"/>
                  <a:buChar char="Ø"/>
                </a:pPr>
                <a:r>
                  <a:rPr lang="en-AT" dirty="0"/>
                  <a:t>Hohe Korrelations- und Regressionsergebnisse </a:t>
                </a:r>
                <a:r>
                  <a:rPr lang="en-AT" dirty="0">
                    <a:sym typeface="Wingdings" pitchFamily="2" charset="2"/>
                  </a:rPr>
                  <a:t> </a:t>
                </a:r>
                <a:r>
                  <a:rPr lang="en-AT" b="1" i="1" dirty="0">
                    <a:sym typeface="Wingdings" pitchFamily="2" charset="2"/>
                  </a:rPr>
                  <a:t>klarer Zusammenhang erkennbar </a:t>
                </a:r>
              </a:p>
              <a:p>
                <a:endParaRPr lang="en-AT" b="1" dirty="0">
                  <a:sym typeface="Wingdings" pitchFamily="2" charset="2"/>
                </a:endParaRPr>
              </a:p>
              <a:p>
                <a:r>
                  <a:rPr lang="en-AT" b="1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		</a:t>
                </a:r>
              </a:p>
              <a:p>
                <a:r>
                  <a:rPr lang="en-AT" b="1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						</a:t>
                </a:r>
                <a:r>
                  <a:rPr lang="en-AT" sz="2000" b="1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SWE </a:t>
                </a:r>
                <a14:m>
                  <m:oMath xmlns:m="http://schemas.openxmlformats.org/officeDocument/2006/math">
                    <m:r>
                      <a:rPr lang="en-AT" sz="2000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AT" sz="2000" b="1" i="1">
                        <a:latin typeface="Cambria Math" panose="02040503050406030204" pitchFamily="18" charset="0"/>
                        <a:sym typeface="Wingdings" pitchFamily="2" charset="2"/>
                      </a:rPr>
                      <m:t>𝒉</m:t>
                    </m:r>
                    <m:r>
                      <a:rPr lang="de-AT" sz="2000" b="1" i="1" baseline="-25000">
                        <a:latin typeface="Cambria Math" panose="02040503050406030204" pitchFamily="18" charset="0"/>
                        <a:sym typeface="Wingdings" pitchFamily="2" charset="2"/>
                      </a:rPr>
                      <m:t>𝒔</m:t>
                    </m:r>
                    <m:r>
                      <a:rPr lang="de-AT" sz="2000" b="1" i="1" baseline="-25000" smtClean="0">
                        <a:latin typeface="Cambria Math" panose="02040503050406030204" pitchFamily="18" charset="0"/>
                        <a:sym typeface="Wingdings" pitchFamily="2" charset="2"/>
                      </a:rPr>
                      <m:t>   </m:t>
                    </m:r>
                    <m:f>
                      <m:fPr>
                        <m:ctrlPr>
                          <a:rPr lang="en-AT" sz="2000" b="1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AT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AT" sz="2000" b="1" i="1" smtClean="0">
                                <a:latin typeface="Cambria Math" panose="02040503050406030204" pitchFamily="18" charset="0"/>
                              </a:rPr>
                              <m:t>𝝆</m:t>
                            </m:r>
                          </m:e>
                          <m:sub>
                            <m:r>
                              <a:rPr lang="en-AT" sz="2000" b="1" i="1" smtClean="0">
                                <a:latin typeface="Cambria Math" panose="02040503050406030204" pitchFamily="18" charset="0"/>
                              </a:rPr>
                              <m:t>𝒔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AT" sz="200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AT" sz="2000" b="1" i="1">
                                <a:latin typeface="Cambria Math" panose="02040503050406030204" pitchFamily="18" charset="0"/>
                              </a:rPr>
                              <m:t>𝝆</m:t>
                            </m:r>
                          </m:e>
                          <m:sub>
                            <m:r>
                              <a:rPr lang="de-AT" sz="2000" b="1" i="1" smtClean="0">
                                <a:latin typeface="Cambria Math" panose="02040503050406030204" pitchFamily="18" charset="0"/>
                              </a:rPr>
                              <m:t>𝒘</m:t>
                            </m:r>
                          </m:sub>
                        </m:sSub>
                      </m:den>
                    </m:f>
                  </m:oMath>
                </a14:m>
                <a:endParaRPr lang="en-AT" b="1" i="1" baseline="-25000" dirty="0"/>
              </a:p>
              <a:p>
                <a:endParaRPr lang="en-AT" b="1" i="1" baseline="-25000" dirty="0"/>
              </a:p>
              <a:p>
                <a:endParaRPr lang="en-AT" b="1" i="1" baseline="-25000" dirty="0"/>
              </a:p>
              <a:p>
                <a:pPr marL="342900" indent="-342900">
                  <a:buFont typeface="Wingdings" pitchFamily="2" charset="2"/>
                  <a:buChar char="Ø"/>
                </a:pPr>
                <a:r>
                  <a:rPr lang="en-GB" i="1" dirty="0" err="1"/>
                  <a:t>n</a:t>
                </a:r>
                <a:r>
                  <a:rPr lang="en-GB" i="1" baseline="-25000" dirty="0" err="1"/>
                  <a:t>Akkumulation</a:t>
                </a:r>
                <a:r>
                  <a:rPr lang="en-GB" baseline="-25000" dirty="0"/>
                  <a:t> </a:t>
                </a:r>
                <a:r>
                  <a:rPr lang="en-GB" dirty="0"/>
                  <a:t>&gt; </a:t>
                </a:r>
                <a:r>
                  <a:rPr lang="en-GB" i="1" dirty="0" err="1"/>
                  <a:t>n</a:t>
                </a:r>
                <a:r>
                  <a:rPr lang="en-GB" i="1" baseline="-25000" dirty="0" err="1"/>
                  <a:t>Schmelzphase</a:t>
                </a:r>
                <a:r>
                  <a:rPr lang="en-GB" i="1" baseline="-25000" dirty="0"/>
                  <a:t>  </a:t>
                </a:r>
                <a:r>
                  <a:rPr lang="en-GB" dirty="0">
                    <a:sym typeface="Wingdings" pitchFamily="2" charset="2"/>
                  </a:rPr>
                  <a:t> </a:t>
                </a:r>
                <a:r>
                  <a:rPr lang="en-GB" b="1" i="1" dirty="0" err="1">
                    <a:sym typeface="Wingdings" pitchFamily="2" charset="2"/>
                  </a:rPr>
                  <a:t>Schmelzphase</a:t>
                </a:r>
                <a:r>
                  <a:rPr lang="en-GB" b="1" i="1" dirty="0">
                    <a:sym typeface="Wingdings" pitchFamily="2" charset="2"/>
                  </a:rPr>
                  <a:t> </a:t>
                </a:r>
                <a:r>
                  <a:rPr lang="en-GB" b="1" i="1" dirty="0" err="1">
                    <a:sym typeface="Wingdings" pitchFamily="2" charset="2"/>
                  </a:rPr>
                  <a:t>erfolgt</a:t>
                </a:r>
                <a:r>
                  <a:rPr lang="en-GB" b="1" i="1" dirty="0">
                    <a:sym typeface="Wingdings" pitchFamily="2" charset="2"/>
                  </a:rPr>
                  <a:t> </a:t>
                </a:r>
                <a:r>
                  <a:rPr lang="en-GB" b="1" i="1" dirty="0" err="1">
                    <a:sym typeface="Wingdings" pitchFamily="2" charset="2"/>
                  </a:rPr>
                  <a:t>deutlich</a:t>
                </a:r>
                <a:r>
                  <a:rPr lang="en-GB" b="1" i="1" dirty="0">
                    <a:sym typeface="Wingdings" pitchFamily="2" charset="2"/>
                  </a:rPr>
                  <a:t> </a:t>
                </a:r>
                <a:r>
                  <a:rPr lang="en-GB" b="1" i="1" dirty="0" err="1">
                    <a:sym typeface="Wingdings" pitchFamily="2" charset="2"/>
                  </a:rPr>
                  <a:t>schneller</a:t>
                </a:r>
                <a:r>
                  <a:rPr lang="en-GB" b="1" i="1" dirty="0">
                    <a:sym typeface="Wingdings" pitchFamily="2" charset="2"/>
                  </a:rPr>
                  <a:t> </a:t>
                </a:r>
                <a:endParaRPr lang="en-GB" b="1" i="1" baseline="-25000" dirty="0"/>
              </a:p>
              <a:p>
                <a:pPr marL="342900" indent="-342900">
                  <a:buFont typeface="Wingdings" pitchFamily="2" charset="2"/>
                  <a:buChar char="Ø"/>
                </a:pPr>
                <a:endParaRPr lang="en-GB" i="1" baseline="-25000" dirty="0"/>
              </a:p>
              <a:p>
                <a:pPr marL="342900" indent="-342900">
                  <a:buFont typeface="Wingdings" pitchFamily="2" charset="2"/>
                  <a:buChar char="Ø"/>
                </a:pPr>
                <a:endParaRPr lang="en-GB" i="1" baseline="-25000" dirty="0"/>
              </a:p>
              <a:p>
                <a:pPr marL="342900" indent="-342900">
                  <a:buFont typeface="Wingdings" pitchFamily="2" charset="2"/>
                  <a:buChar char="Ø"/>
                </a:pPr>
                <a:endParaRPr lang="en-GB" i="1" baseline="-25000" dirty="0"/>
              </a:p>
              <a:p>
                <a:pPr marL="342900" indent="-342900">
                  <a:buFont typeface="Wingdings" pitchFamily="2" charset="2"/>
                  <a:buChar char="Ø"/>
                </a:pPr>
                <a:r>
                  <a:rPr lang="en-GB" i="1" dirty="0" err="1"/>
                  <a:t>r</a:t>
                </a:r>
                <a:r>
                  <a:rPr lang="en-GB" i="1" baseline="-25000" dirty="0" err="1"/>
                  <a:t>Bella</a:t>
                </a:r>
                <a:r>
                  <a:rPr lang="en-GB" i="1" dirty="0"/>
                  <a:t> </a:t>
                </a:r>
                <a:r>
                  <a:rPr lang="en-GB" i="1" baseline="-25000" dirty="0"/>
                  <a:t>Vista</a:t>
                </a:r>
                <a:r>
                  <a:rPr lang="en-GB" i="1" dirty="0"/>
                  <a:t> und R</a:t>
                </a:r>
                <a:r>
                  <a:rPr lang="en-GB" i="1" baseline="30000" dirty="0"/>
                  <a:t>2</a:t>
                </a:r>
                <a:r>
                  <a:rPr lang="en-GB" i="1" baseline="-25000" dirty="0"/>
                  <a:t>Bella Vista</a:t>
                </a:r>
                <a:r>
                  <a:rPr lang="en-GB" i="1" dirty="0"/>
                  <a:t> </a:t>
                </a:r>
                <a:r>
                  <a:rPr lang="en-GB" dirty="0"/>
                  <a:t>&gt; </a:t>
                </a:r>
                <a:r>
                  <a:rPr lang="en-GB" dirty="0" err="1"/>
                  <a:t>r</a:t>
                </a:r>
                <a:r>
                  <a:rPr lang="en-GB" baseline="-25000" dirty="0" err="1"/>
                  <a:t>Proviantdepot</a:t>
                </a:r>
                <a:r>
                  <a:rPr lang="en-GB" baseline="-25000" dirty="0"/>
                  <a:t> </a:t>
                </a:r>
                <a:r>
                  <a:rPr lang="en-GB" dirty="0"/>
                  <a:t>und R</a:t>
                </a:r>
                <a:r>
                  <a:rPr lang="en-GB" baseline="30000" dirty="0"/>
                  <a:t>2</a:t>
                </a:r>
                <a:r>
                  <a:rPr lang="en-GB" baseline="-25000" dirty="0"/>
                  <a:t>Proviantdepot  </a:t>
                </a:r>
                <a:r>
                  <a:rPr lang="en-GB" dirty="0">
                    <a:sym typeface="Wingdings" pitchFamily="2" charset="2"/>
                  </a:rPr>
                  <a:t> </a:t>
                </a:r>
                <a:r>
                  <a:rPr lang="en-GB" b="1" i="1" dirty="0">
                    <a:sym typeface="Wingdings" pitchFamily="2" charset="2"/>
                  </a:rPr>
                  <a:t>???</a:t>
                </a:r>
                <a:endParaRPr lang="en-GB" b="1" i="1" dirty="0"/>
              </a:p>
              <a:p>
                <a:pPr marL="342900" indent="-342900">
                  <a:buFont typeface="Wingdings" pitchFamily="2" charset="2"/>
                  <a:buChar char="Ø"/>
                </a:pPr>
                <a:endParaRPr lang="en-AT" i="1" dirty="0"/>
              </a:p>
              <a:p>
                <a:pPr marL="342900" indent="-342900">
                  <a:buFont typeface="Wingdings" pitchFamily="2" charset="2"/>
                  <a:buChar char="Ø"/>
                </a:pPr>
                <a:endParaRPr lang="en-AT" i="1" dirty="0"/>
              </a:p>
              <a:p>
                <a:pPr marL="285750" indent="-285750">
                  <a:buFont typeface="Wingdings" pitchFamily="2" charset="2"/>
                  <a:buChar char="Ø"/>
                </a:pPr>
                <a:r>
                  <a:rPr lang="en-GB" dirty="0"/>
                  <a:t>B</a:t>
                </a:r>
                <a:r>
                  <a:rPr lang="en-AT" dirty="0"/>
                  <a:t>ei geringere Schneehöhen ist die Streuung der Messwerte um die Regressionsgerade geringer </a:t>
                </a:r>
                <a:r>
                  <a:rPr lang="en-AT" dirty="0">
                    <a:sym typeface="Wingdings" pitchFamily="2" charset="2"/>
                  </a:rPr>
                  <a:t> </a:t>
                </a:r>
                <a:r>
                  <a:rPr lang="en-AT" b="1" i="1" dirty="0">
                    <a:sym typeface="Wingdings" pitchFamily="2" charset="2"/>
                  </a:rPr>
                  <a:t>Setzung / Verdichtungen bei größeren Schneehöhen (Metamorphose) </a:t>
                </a:r>
                <a:endParaRPr lang="en-AT" b="1" i="1" dirty="0"/>
              </a:p>
              <a:p>
                <a:endParaRPr lang="en-AT" b="1" i="1" baseline="-25000" dirty="0"/>
              </a:p>
              <a:p>
                <a:pPr marL="285750" indent="-285750">
                  <a:buFont typeface="Wingdings" pitchFamily="2" charset="2"/>
                  <a:buChar char="Ø"/>
                </a:pPr>
                <a:endParaRPr lang="en-AT" b="1" i="1" baseline="-25000" dirty="0"/>
              </a:p>
              <a:p>
                <a:endParaRPr lang="en-AT" b="1" i="1" baseline="-25000" dirty="0"/>
              </a:p>
              <a:p>
                <a:pPr marL="285750" indent="-285750">
                  <a:buFont typeface="Wingdings" pitchFamily="2" charset="2"/>
                  <a:buChar char="Ø"/>
                </a:pPr>
                <a:endParaRPr lang="en-AT" b="1" i="1" baseline="-250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A7F092C-5175-E3B2-EC1E-75122B2A55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7786" y="1168948"/>
                <a:ext cx="11235913" cy="4695773"/>
              </a:xfrm>
              <a:prstGeom prst="rect">
                <a:avLst/>
              </a:prstGeom>
              <a:blipFill>
                <a:blip r:embed="rId4"/>
                <a:stretch>
                  <a:fillRect l="-339" t="-811"/>
                </a:stretch>
              </a:blipFill>
            </p:spPr>
            <p:txBody>
              <a:bodyPr/>
              <a:lstStyle/>
              <a:p>
                <a:r>
                  <a:rPr lang="en-A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339458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8B18DB-68DA-9902-3537-3FD9387C7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455851F8-3C47-C348-2859-93D60531D38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63020" y="682316"/>
            <a:ext cx="9152312" cy="477837"/>
          </a:xfrm>
        </p:spPr>
        <p:txBody>
          <a:bodyPr/>
          <a:lstStyle/>
          <a:p>
            <a:r>
              <a:rPr lang="de-DE" sz="2800" b="1" dirty="0">
                <a:cs typeface="Lava Devanagari" pitchFamily="2" charset="77"/>
              </a:rPr>
              <a:t>Literaturverzeichnis 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91A16137-1AA6-15C8-622A-11AC6A9F9A5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424606" y="6352404"/>
            <a:ext cx="4114800" cy="314425"/>
          </a:xfrm>
        </p:spPr>
        <p:txBody>
          <a:bodyPr/>
          <a:lstStyle/>
          <a:p>
            <a:r>
              <a:rPr lang="de-DE" dirty="0"/>
              <a:t>Knapke &amp; Jacobsohn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0C936EE4-DBC0-6DF6-BFD7-7756F6E6B9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44476" y="6350145"/>
            <a:ext cx="888247" cy="316684"/>
          </a:xfrm>
        </p:spPr>
        <p:txBody>
          <a:bodyPr/>
          <a:lstStyle/>
          <a:p>
            <a:r>
              <a:rPr lang="de-DE" dirty="0"/>
              <a:t>Seite </a:t>
            </a:r>
            <a:fld id="{EBA229B5-7CFD-BC45-B1DD-7E8FA6FF2A01}" type="slidenum">
              <a:rPr lang="de-DE" smtClean="0"/>
              <a:pPr/>
              <a:t>7</a:t>
            </a:fld>
            <a:endParaRPr lang="de-DE" dirty="0"/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0AF280CC-82DD-0A89-0D53-AB7903DF52B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907620" y="6352404"/>
            <a:ext cx="1311917" cy="316684"/>
          </a:xfrm>
        </p:spPr>
        <p:txBody>
          <a:bodyPr/>
          <a:lstStyle/>
          <a:p>
            <a:fld id="{7C3CDC0F-71BF-B840-812C-9588125E0BFE}" type="datetime6">
              <a:rPr lang="de-DE" smtClean="0"/>
              <a:pPr/>
              <a:t>Oktober 26</a:t>
            </a:fld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05B07F7-AB05-B6FC-D8AA-A6BB84357EE2}"/>
              </a:ext>
            </a:extLst>
          </p:cNvPr>
          <p:cNvSpPr txBox="1"/>
          <p:nvPr/>
        </p:nvSpPr>
        <p:spPr>
          <a:xfrm>
            <a:off x="663020" y="1270000"/>
            <a:ext cx="106172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T" sz="1400" dirty="0"/>
              <a:t>Warscher, M., Marke, T., Rottler, E., &amp; Strasser, U. (2024). Operational and experimental snow observation systems in the upper Rofental: data from 2017 to 2023. </a:t>
            </a:r>
            <a:r>
              <a:rPr lang="en-AT" sz="1400" i="1" dirty="0"/>
              <a:t>Earth System Science Data</a:t>
            </a:r>
            <a:r>
              <a:rPr lang="en-AT" sz="1400" dirty="0"/>
              <a:t>, </a:t>
            </a:r>
            <a:r>
              <a:rPr lang="en-AT" sz="1400" i="1" dirty="0"/>
              <a:t>16</a:t>
            </a:r>
            <a:r>
              <a:rPr lang="en-AT" sz="1400" dirty="0"/>
              <a:t>(8), 3579-3599.</a:t>
            </a:r>
          </a:p>
        </p:txBody>
      </p:sp>
      <p:sp>
        <p:nvSpPr>
          <p:cNvPr id="3" name="Titel 6">
            <a:extLst>
              <a:ext uri="{FF2B5EF4-FFF2-40B4-BE49-F238E27FC236}">
                <a16:creationId xmlns:a16="http://schemas.microsoft.com/office/drawing/2014/main" id="{042DC36C-8B3F-8053-560B-338C4DEB98B7}"/>
              </a:ext>
            </a:extLst>
          </p:cNvPr>
          <p:cNvSpPr txBox="1">
            <a:spLocks/>
          </p:cNvSpPr>
          <p:nvPr/>
        </p:nvSpPr>
        <p:spPr>
          <a:xfrm>
            <a:off x="574120" y="2561916"/>
            <a:ext cx="9152312" cy="477837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667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2800" b="1" dirty="0">
                <a:cs typeface="Lava Devanagari" pitchFamily="2" charset="77"/>
              </a:rPr>
              <a:t>Abbildungsverzeichnis</a:t>
            </a:r>
            <a:r>
              <a:rPr lang="de-DE" sz="3200" b="1" dirty="0">
                <a:cs typeface="Lava Devanagari" pitchFamily="2" charset="77"/>
              </a:rPr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242D2EE-0BCD-9EDD-038F-247A7BF47D67}"/>
              </a:ext>
            </a:extLst>
          </p:cNvPr>
          <p:cNvSpPr txBox="1"/>
          <p:nvPr/>
        </p:nvSpPr>
        <p:spPr>
          <a:xfrm>
            <a:off x="571399" y="3091994"/>
            <a:ext cx="1061720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T" sz="1400" b="1" dirty="0"/>
              <a:t>Abbildung 1. </a:t>
            </a:r>
            <a:r>
              <a:rPr lang="en-AT" sz="1400" dirty="0">
                <a:cs typeface="Lava Devanagari" pitchFamily="2" charset="77"/>
              </a:rPr>
              <a:t>Standorte der drei automatisierten Wetterstationen Bella Vista (2805 m a.s.l.), Latschbloder (2929 m a.s.l.) und Proviantdepot (2737 m a.s.l.). </a:t>
            </a:r>
            <a:endParaRPr lang="en-AT" sz="1400" b="1" dirty="0"/>
          </a:p>
          <a:p>
            <a:endParaRPr lang="en-AT" sz="1400" b="1" dirty="0"/>
          </a:p>
          <a:p>
            <a:r>
              <a:rPr lang="en-AT" sz="1400" b="1" dirty="0"/>
              <a:t>Abbildung 2. </a:t>
            </a:r>
            <a:r>
              <a:rPr lang="en-AT" sz="1400" dirty="0">
                <a:cs typeface="Lava Devanagari" pitchFamily="2" charset="77"/>
              </a:rPr>
              <a:t>Schneehöhe der drei Stationen zwischen 2017 und 2025.</a:t>
            </a:r>
            <a:endParaRPr lang="en-AT" sz="1400" b="1" dirty="0"/>
          </a:p>
          <a:p>
            <a:endParaRPr lang="en-AT" sz="1400" b="1" dirty="0"/>
          </a:p>
          <a:p>
            <a:r>
              <a:rPr lang="en-AT" sz="1400" b="1" dirty="0"/>
              <a:t>Abbildung 3. </a:t>
            </a:r>
            <a:r>
              <a:rPr lang="en-AT" sz="1400" dirty="0">
                <a:cs typeface="Lava Devanagari" pitchFamily="2" charset="77"/>
              </a:rPr>
              <a:t>SWE der Stationen Bella Vista und Proviantdepot zwischen 2019 und 2025. </a:t>
            </a:r>
            <a:endParaRPr lang="en-AT" sz="1400" b="1" dirty="0"/>
          </a:p>
          <a:p>
            <a:endParaRPr lang="en-AT" sz="1400" b="1" dirty="0"/>
          </a:p>
          <a:p>
            <a:r>
              <a:rPr lang="en-AT" sz="1400" b="1" dirty="0"/>
              <a:t>Abbildung 4. </a:t>
            </a:r>
            <a:r>
              <a:rPr lang="en-AT" sz="1400" dirty="0">
                <a:cs typeface="Lava Devanagari" pitchFamily="2" charset="77"/>
              </a:rPr>
              <a:t>Regressionsanalyse von SWE und SH. </a:t>
            </a:r>
            <a:endParaRPr lang="en-AT" sz="1400" b="1" dirty="0"/>
          </a:p>
        </p:txBody>
      </p:sp>
    </p:spTree>
    <p:extLst>
      <p:ext uri="{BB962C8B-B14F-4D97-AF65-F5344CB8AC3E}">
        <p14:creationId xmlns:p14="http://schemas.microsoft.com/office/powerpoint/2010/main" val="10535043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00D203-90F8-526C-10AD-942821CD36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12AFFE9A-D9A9-00D4-0EE8-7A768997EF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63020" y="682316"/>
            <a:ext cx="9152312" cy="477837"/>
          </a:xfrm>
        </p:spPr>
        <p:txBody>
          <a:bodyPr/>
          <a:lstStyle/>
          <a:p>
            <a:r>
              <a:rPr lang="de-DE" sz="3200" b="1" dirty="0">
                <a:cs typeface="Lava Devanagari" pitchFamily="2" charset="77"/>
              </a:rPr>
              <a:t>Appendix 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798BDD4-A558-4533-3FE6-1A6A8A80115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424606" y="6352404"/>
            <a:ext cx="4114800" cy="314425"/>
          </a:xfrm>
        </p:spPr>
        <p:txBody>
          <a:bodyPr/>
          <a:lstStyle/>
          <a:p>
            <a:r>
              <a:rPr lang="de-DE" dirty="0"/>
              <a:t>Knapke &amp; Jacobsohn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E70231C-0B68-40C3-7CB9-F1B2852AB60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44476" y="6350145"/>
            <a:ext cx="888247" cy="316684"/>
          </a:xfrm>
        </p:spPr>
        <p:txBody>
          <a:bodyPr/>
          <a:lstStyle/>
          <a:p>
            <a:r>
              <a:rPr lang="de-DE" dirty="0"/>
              <a:t>Seite </a:t>
            </a:r>
            <a:fld id="{EBA229B5-7CFD-BC45-B1DD-7E8FA6FF2A01}" type="slidenum">
              <a:rPr lang="de-DE" smtClean="0"/>
              <a:pPr/>
              <a:t>8</a:t>
            </a:fld>
            <a:endParaRPr lang="de-DE" dirty="0"/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586B645A-09D3-FA29-6E00-BD88047940D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907620" y="6352404"/>
            <a:ext cx="1311917" cy="316684"/>
          </a:xfrm>
        </p:spPr>
        <p:txBody>
          <a:bodyPr/>
          <a:lstStyle/>
          <a:p>
            <a:fld id="{7C3CDC0F-71BF-B840-812C-9588125E0BFE}" type="datetime6">
              <a:rPr lang="de-DE" smtClean="0"/>
              <a:pPr/>
              <a:t>Oktober 26</a:t>
            </a:fld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E388564-C0CE-9598-0096-B7BE591C0D67}"/>
              </a:ext>
            </a:extLst>
          </p:cNvPr>
          <p:cNvSpPr txBox="1"/>
          <p:nvPr/>
        </p:nvSpPr>
        <p:spPr>
          <a:xfrm>
            <a:off x="663020" y="1270000"/>
            <a:ext cx="1061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T" dirty="0"/>
              <a:t>Python Skripts: </a:t>
            </a:r>
            <a:r>
              <a:rPr lang="en-GB" dirty="0"/>
              <a:t>https://</a:t>
            </a:r>
            <a:r>
              <a:rPr lang="en-GB" dirty="0" err="1"/>
              <a:t>github.com</a:t>
            </a:r>
            <a:r>
              <a:rPr lang="en-GB" dirty="0"/>
              <a:t>/20jacobs/</a:t>
            </a:r>
            <a:r>
              <a:rPr lang="en-GB" dirty="0" err="1"/>
              <a:t>Snow_rofental.git</a:t>
            </a:r>
            <a:endParaRPr lang="en-AT" dirty="0"/>
          </a:p>
        </p:txBody>
      </p:sp>
    </p:spTree>
    <p:extLst>
      <p:ext uri="{BB962C8B-B14F-4D97-AF65-F5344CB8AC3E}">
        <p14:creationId xmlns:p14="http://schemas.microsoft.com/office/powerpoint/2010/main" val="39032495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uibk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003361"/>
      </a:accent1>
      <a:accent2>
        <a:srgbClr val="F39200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item1.xml>��
</file>

<file path=customXml/itemProps1.xml><?xml version="1.0" encoding="utf-8"?>
<ds:datastoreItem xmlns:ds="http://schemas.openxmlformats.org/officeDocument/2006/customXml" ds:itemID="{E8D01778-62E1-4AD0-B2FB-E631DD3CCD47}">
  <ds:schemaRefs>
    <ds:schemaRef ds:uri="http://www.w3.org/2001/XMLSchema"/>
    <ds:schemaRef ds:uri="http://www.zhaw.ch/AccessibilityAddIn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1267</TotalTime>
  <Words>478</Words>
  <Application>Microsoft Macintosh PowerPoint</Application>
  <PresentationFormat>Widescreen</PresentationFormat>
  <Paragraphs>73</Paragraphs>
  <Slides>8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5" baseType="lpstr">
      <vt:lpstr>Arial</vt:lpstr>
      <vt:lpstr>Calibri</vt:lpstr>
      <vt:lpstr>Calibri Light</vt:lpstr>
      <vt:lpstr>Cambria Math</vt:lpstr>
      <vt:lpstr>Lava Devanagari</vt:lpstr>
      <vt:lpstr>Wingdings</vt:lpstr>
      <vt:lpstr>Office</vt:lpstr>
      <vt:lpstr>Datenanalyse der Schneehöhe und SWE im Hochgebirge Vergleich der Wetterstationen Bella Vista, Latschbloder und Proviantdepot im Rofental  Jonas Knapke &amp; Franziska Jacobsohn (20.10.2026), EU Gebirgsforschung  </vt:lpstr>
      <vt:lpstr>PowerPoint Presentation</vt:lpstr>
      <vt:lpstr>1. Zeitreihe der Schneehöhe </vt:lpstr>
      <vt:lpstr>2. Zeitreihe vom SWE</vt:lpstr>
      <vt:lpstr>3. Statistische Analyse von SH und SWE</vt:lpstr>
      <vt:lpstr>3. Statistische Analyse von SH und SWE</vt:lpstr>
      <vt:lpstr>Literaturverzeichnis </vt:lpstr>
      <vt:lpstr>Appendix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Microsoft Office-Anwender</dc:creator>
  <cp:lastModifiedBy>franziska.jacobsohn@gmail.com</cp:lastModifiedBy>
  <cp:revision>116</cp:revision>
  <dcterms:created xsi:type="dcterms:W3CDTF">2017-06-06T07:41:45Z</dcterms:created>
  <dcterms:modified xsi:type="dcterms:W3CDTF">2026-10-16T11:51:39Z</dcterms:modified>
</cp:coreProperties>
</file>