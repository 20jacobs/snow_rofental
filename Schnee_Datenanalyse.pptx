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2"/>
  </p:notesMasterIdLst>
  <p:handoutMasterIdLst>
    <p:handoutMasterId r:id="rId13"/>
  </p:handoutMasterIdLst>
  <p:sldIdLst>
    <p:sldId id="260" r:id="rId3"/>
    <p:sldId id="261" r:id="rId4"/>
    <p:sldId id="273" r:id="rId5"/>
    <p:sldId id="277" r:id="rId6"/>
    <p:sldId id="278" r:id="rId7"/>
    <p:sldId id="279" r:id="rId8"/>
    <p:sldId id="275" r:id="rId9"/>
    <p:sldId id="276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B2D"/>
    <a:srgbClr val="4C4D4C"/>
    <a:srgbClr val="343433"/>
    <a:srgbClr val="00294C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96" autoAdjust="0"/>
    <p:restoredTop sz="94628"/>
  </p:normalViewPr>
  <p:slideViewPr>
    <p:cSldViewPr snapToGrid="0" snapToObjects="1" showGuides="1">
      <p:cViewPr>
        <p:scale>
          <a:sx n="40" d="100"/>
          <a:sy n="40" d="100"/>
        </p:scale>
        <p:origin x="2768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19.10.26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82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576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5C1BE-21D5-F681-038C-AEE73BC5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47876-07A5-1E45-77A3-231F398AB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5F37E-546D-83D1-9121-4316EA1C6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DAC74-8D46-4E1C-1CE3-8A32306D4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56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0557-A2B9-6448-262F-9B14AC6DA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83FCD-E01C-513A-0DC9-34651BDA9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9EDF7-94A4-24FE-BC60-B69D6F07E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2BDE2-044E-C8CD-DB32-1B9BE24F4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8851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001FA-A842-1317-E27C-1B50590A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250C3-4D36-3DC7-EFE9-E5BEBABB2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F1D71-AE23-86B0-3DED-B78612BA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F068B-1CB6-9BD9-A653-3E4754CB8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52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D398-AB37-6E56-6AAE-CDFC8B1E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68279-DC16-35EA-AB7E-D1DF844DE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35D6E-8AAB-219F-C694-8756E2A0C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A5520-1448-40A1-0A0B-9D4CEE3C2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31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5277-2CEF-DBEA-45DC-52E5156A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F5008-2666-E1CE-69D1-FF67E306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1D20E-8E65-D011-58D0-BA102265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3B57B-89D3-00F7-A827-86FAB0573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640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6971-9247-8D42-8FE2-CDD670C8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6AE4A-E039-A112-AC13-31C323F42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BC5F4-74A7-FB86-3BFB-62F8C71A1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F1F7D-F4EB-AA8D-F13F-E0FA48E4D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71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FB9842-8DFB-C8D2-DAF3-F9AEA1236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1786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572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57560AF-62DA-685C-05D3-86EBDEF3A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243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467342-6F17-B273-AB31-7550A6A2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0C85B2-D425-5CFB-4251-19ED243B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8966" y="63575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 dirty="0"/>
              <a:t>Titel oder Vortragender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E0B9212-D1C1-ADB0-2A92-B1D1B2B0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8836" y="63552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7E50-EC1F-01A0-B1F3-70989E79E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1980" y="63575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25538"/>
            <a:ext cx="5273191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2000" y="1125538"/>
            <a:ext cx="5400748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4869B38-494B-4C89-A74E-D20229C1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2902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64C877-38F5-B23B-AB59-8521CEDE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5A9A-4549-7291-C45E-B517A0EB5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BEA872-6F0E-93AD-97E6-4944DF48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70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888646" y="1126927"/>
            <a:ext cx="5083656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174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140173" y="1127050"/>
            <a:ext cx="5201331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FCFE1-A281-A2FB-6E30-43BF24D3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184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06CE9B-759F-824A-C20A-5E10A93E4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BACC-8192-9FCA-5352-7C6863BD1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E8F90-C45D-8937-D1DB-0139A002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321" y="1117234"/>
            <a:ext cx="6080753" cy="4756918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663" y="1120007"/>
            <a:ext cx="4538645" cy="4756918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0A2F76-5FE6-A2C9-8158-0253A4B2F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602259"/>
            <a:ext cx="1087851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667" dirty="0">
                <a:solidFill>
                  <a:schemeClr val="accent1"/>
                </a:solidFill>
              </a:defRPr>
            </a:lvl1pPr>
          </a:lstStyle>
          <a:p>
            <a:pPr lvl="0"/>
            <a:br>
              <a:rPr lang="de-DE" dirty="0"/>
            </a:br>
            <a:r>
              <a:rPr lang="de-DE" dirty="0"/>
              <a:t>Mastertitelformat 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5945F4-3FF9-3EFE-16B6-5F5982EA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8957" y="63679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5FAE91-7171-D00B-D5B3-F231E3F8D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827" y="63656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719207-9E67-A5A0-0AFB-800C561F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1971" y="63679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97428" y="1125538"/>
            <a:ext cx="6135295" cy="4751387"/>
          </a:xfrm>
        </p:spPr>
        <p:txBody>
          <a:bodyPr anchor="t"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3" y="1125538"/>
            <a:ext cx="4538645" cy="4751387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4FDCCD-A5AF-88A5-9D20-108CCA7A4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9F5C56-FD7E-D515-80C0-7891D6A1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BA88-315C-2F5A-C8CA-1B8CAE5A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1B1380-8210-48A8-BB43-B42AD035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26928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733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D4537A4E-7ECF-DAE3-1691-53F7327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014802-BFAB-F5A2-B75F-9FB942E2C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B30F97-4BE0-5CC1-D8E4-6176CBD1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5A1-CC77-7628-2F4B-D2EF0A0DF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1EA5244-F51F-15E2-9ECD-098BAF45FF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4250" y="1797050"/>
            <a:ext cx="10631488" cy="960438"/>
          </a:xfrm>
        </p:spPr>
        <p:txBody>
          <a:bodyPr>
            <a:normAutofit/>
          </a:bodyPr>
          <a:lstStyle>
            <a:lvl1pPr marL="0" indent="0">
              <a:buNone/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Zitat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3C54AE5-9A00-9A92-A46D-BB640118A2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3206750"/>
            <a:ext cx="10848975" cy="26701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E1D3F9E-CCAE-4466-A283-C2A9F0F3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BFD8B5-A5D3-47AF-94BC-02440AFB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82951B-5DE8-4179-9CDF-0C5072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E3557F-6723-8117-535B-4980C2C2A4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320" y="1772529"/>
            <a:ext cx="10987087" cy="410439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rgbClr val="4C4D4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FontTx/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1C9FEA-638E-55A9-B425-573F822E3E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6611" y="815364"/>
            <a:ext cx="11120437" cy="85883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Titeltext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CDC0F-71BF-B840-812C-9588125E0BFE}" type="datetime6">
              <a:rPr lang="de-DE" smtClean="0"/>
              <a:t>Oktober 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Titel oder Vortragender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06" r:id="rId3"/>
    <p:sldLayoutId id="2147483708" r:id="rId4"/>
    <p:sldLayoutId id="2147483721" r:id="rId5"/>
    <p:sldLayoutId id="2147483712" r:id="rId6"/>
    <p:sldLayoutId id="2147483713" r:id="rId7"/>
    <p:sldLayoutId id="2147483714" r:id="rId8"/>
    <p:sldLayoutId id="2147483735" r:id="rId9"/>
    <p:sldLayoutId id="214748372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880/FIDGEO.2023.037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0557BE-3D57-486E-B62E-9294FE4B1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5251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9A69A4-A408-41D6-A2A4-51B2066B3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5121" y="6350145"/>
            <a:ext cx="888247" cy="316684"/>
          </a:xfrm>
        </p:spPr>
        <p:txBody>
          <a:bodyPr/>
          <a:lstStyle/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7F5EE33-65E8-40A5-B6A0-D333CBE01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5DF4B-BDA5-B3A8-5D4D-ED375113BC09}"/>
              </a:ext>
            </a:extLst>
          </p:cNvPr>
          <p:cNvSpPr txBox="1"/>
          <p:nvPr/>
        </p:nvSpPr>
        <p:spPr>
          <a:xfrm>
            <a:off x="2225409" y="4000649"/>
            <a:ext cx="85197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900" b="1" dirty="0">
                <a:cs typeface="Lava Devanagari" pitchFamily="2" charset="77"/>
              </a:rPr>
              <a:t>Abbildung 1. </a:t>
            </a:r>
            <a:r>
              <a:rPr lang="en-AT" sz="900" dirty="0">
                <a:cs typeface="Lava Devanagari" pitchFamily="2" charset="77"/>
              </a:rPr>
              <a:t>Standorte der drei automatisierten Wetterstationen Bella Vista (2805 m a.s.l.), Latschbloder (2929 m a.s.l.) und Proviantdepot (2737 m a.s.l.) (Eigene Darstellung). </a:t>
            </a:r>
            <a:endParaRPr lang="en-AT" sz="900" b="1" dirty="0">
              <a:cs typeface="Lava Devanagari" pitchFamily="2" charset="77"/>
            </a:endParaRPr>
          </a:p>
        </p:txBody>
      </p:sp>
      <p:sp>
        <p:nvSpPr>
          <p:cNvPr id="12" name="Titel 21">
            <a:extLst>
              <a:ext uri="{FF2B5EF4-FFF2-40B4-BE49-F238E27FC236}">
                <a16:creationId xmlns:a16="http://schemas.microsoft.com/office/drawing/2014/main" id="{F8741EE0-412A-D502-71D0-66257968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215" y="4576524"/>
            <a:ext cx="10822100" cy="177362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de-AT" sz="3200" b="1" u="sng" dirty="0">
                <a:latin typeface="+mn-lt"/>
                <a:cs typeface="Lava Devanagari" pitchFamily="2" charset="77"/>
              </a:rPr>
              <a:t>Datenanalyse der Schneehöhe und SWE im Hochgebirge</a:t>
            </a:r>
            <a:br>
              <a:rPr lang="de-AT" b="1" u="sng" dirty="0">
                <a:latin typeface="+mn-lt"/>
                <a:cs typeface="Lava Devanagari" pitchFamily="2" charset="77"/>
              </a:rPr>
            </a:br>
            <a:r>
              <a:rPr lang="en-AT" sz="2000" b="0" dirty="0">
                <a:latin typeface="+mn-lt"/>
                <a:cs typeface="Lava Devanagari" pitchFamily="2" charset="77"/>
              </a:rPr>
              <a:t>Vergleich der Wetterstationen Bella Vista, Latschbloder und Proviantdepot im Rofental </a:t>
            </a:r>
            <a:br>
              <a:rPr lang="en-AT" sz="2000" b="0" dirty="0">
                <a:latin typeface="+mn-lt"/>
                <a:cs typeface="Lava Devanagari" pitchFamily="2" charset="77"/>
              </a:rPr>
            </a:br>
            <a:r>
              <a:rPr lang="en-AT" sz="1600" b="0" dirty="0">
                <a:latin typeface="+mn-lt"/>
                <a:cs typeface="Lava Devanagari" pitchFamily="2" charset="77"/>
              </a:rPr>
              <a:t>Jonas </a:t>
            </a:r>
            <a:r>
              <a:rPr lang="en-AT" sz="1600" b="1" dirty="0">
                <a:latin typeface="+mn-lt"/>
                <a:cs typeface="Lava Devanagari" pitchFamily="2" charset="77"/>
              </a:rPr>
              <a:t>Knapke</a:t>
            </a:r>
            <a:r>
              <a:rPr lang="en-AT" sz="1600" b="0" dirty="0">
                <a:latin typeface="+mn-lt"/>
                <a:cs typeface="Lava Devanagari" pitchFamily="2" charset="77"/>
              </a:rPr>
              <a:t> &amp; Franziska </a:t>
            </a:r>
            <a:r>
              <a:rPr lang="en-AT" sz="1600" b="1" dirty="0">
                <a:latin typeface="+mn-lt"/>
                <a:cs typeface="Lava Devanagari" pitchFamily="2" charset="77"/>
              </a:rPr>
              <a:t>Jacobsohn</a:t>
            </a:r>
            <a:r>
              <a:rPr lang="en-AT" sz="1600" b="0" dirty="0">
                <a:latin typeface="+mn-lt"/>
                <a:cs typeface="Lava Devanagari" pitchFamily="2" charset="77"/>
              </a:rPr>
              <a:t> (20.10.2026), EU Gebirgsforschung </a:t>
            </a:r>
            <a:br>
              <a:rPr lang="de-AT" b="1" dirty="0"/>
            </a:br>
            <a:endParaRPr lang="de-AT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34F501-39FD-4D0D-89C4-0622F37ED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1" b="5690"/>
          <a:stretch>
            <a:fillRect/>
          </a:stretch>
        </p:blipFill>
        <p:spPr>
          <a:xfrm>
            <a:off x="3449256" y="177338"/>
            <a:ext cx="5440287" cy="382750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AAD372C-5C58-B5D6-8A3E-EE72C5397579}"/>
              </a:ext>
            </a:extLst>
          </p:cNvPr>
          <p:cNvSpPr/>
          <p:nvPr/>
        </p:nvSpPr>
        <p:spPr>
          <a:xfrm>
            <a:off x="5787342" y="1284790"/>
            <a:ext cx="127321" cy="12732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C73ADC-9524-22A0-5FE7-E14C7A579D2B}"/>
              </a:ext>
            </a:extLst>
          </p:cNvPr>
          <p:cNvSpPr/>
          <p:nvPr/>
        </p:nvSpPr>
        <p:spPr>
          <a:xfrm>
            <a:off x="5376444" y="2309144"/>
            <a:ext cx="127321" cy="127321"/>
          </a:xfrm>
          <a:prstGeom prst="ellipse">
            <a:avLst/>
          </a:prstGeom>
          <a:solidFill>
            <a:srgbClr val="EB8B2D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DFFCA2-4201-F0DA-9CF5-E18DCF6D27D2}"/>
              </a:ext>
            </a:extLst>
          </p:cNvPr>
          <p:cNvSpPr/>
          <p:nvPr/>
        </p:nvSpPr>
        <p:spPr>
          <a:xfrm>
            <a:off x="5040778" y="2934177"/>
            <a:ext cx="127321" cy="12732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8781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75FAA2-2214-9769-CE64-0CA5F17B6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57763B-BFD4-902E-F04C-1B92CA9FF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131CB8E-1418-4F69-CA23-932227F46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6615A-D7A6-8122-C64A-0A8703D9DB5D}"/>
              </a:ext>
            </a:extLst>
          </p:cNvPr>
          <p:cNvSpPr txBox="1"/>
          <p:nvPr/>
        </p:nvSpPr>
        <p:spPr>
          <a:xfrm>
            <a:off x="3992168" y="5787837"/>
            <a:ext cx="58609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900" b="1" dirty="0">
                <a:cs typeface="Lava Devanagari" pitchFamily="2" charset="77"/>
              </a:rPr>
              <a:t>Abbildung 2. </a:t>
            </a:r>
            <a:r>
              <a:rPr lang="en-AT" sz="900" dirty="0">
                <a:cs typeface="Lava Devanagari" pitchFamily="2" charset="77"/>
              </a:rPr>
              <a:t>Schneehöhe der drei Stationen zwischen 2017 und 2025 (Jacobsohn &amp; Knapke, 2026). </a:t>
            </a:r>
            <a:endParaRPr lang="en-AT" sz="900" b="1" dirty="0">
              <a:cs typeface="Lava Devanagari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052763-6C07-24C4-E5C2-C37464ACD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442" y="986971"/>
            <a:ext cx="9721116" cy="4800866"/>
          </a:xfrm>
          <a:prstGeom prst="rect">
            <a:avLst/>
          </a:prstGeom>
        </p:spPr>
      </p:pic>
      <p:sp>
        <p:nvSpPr>
          <p:cNvPr id="11" name="Titel 6">
            <a:extLst>
              <a:ext uri="{FF2B5EF4-FFF2-40B4-BE49-F238E27FC236}">
                <a16:creationId xmlns:a16="http://schemas.microsoft.com/office/drawing/2014/main" id="{9A062724-EE49-EF43-430D-330223DA0A52}"/>
              </a:ext>
            </a:extLst>
          </p:cNvPr>
          <p:cNvSpPr txBox="1">
            <a:spLocks/>
          </p:cNvSpPr>
          <p:nvPr/>
        </p:nvSpPr>
        <p:spPr>
          <a:xfrm>
            <a:off x="397287" y="393844"/>
            <a:ext cx="8383856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>
                <a:cs typeface="Lava Devanagari" pitchFamily="2" charset="77"/>
              </a:rPr>
              <a:t>1. Zeitreihe der Schneehöhe</a:t>
            </a:r>
          </a:p>
        </p:txBody>
      </p:sp>
    </p:spTree>
    <p:extLst>
      <p:ext uri="{BB962C8B-B14F-4D97-AF65-F5344CB8AC3E}">
        <p14:creationId xmlns:p14="http://schemas.microsoft.com/office/powerpoint/2010/main" val="217557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7D87-B58F-889D-74E4-E7A1EC37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3A833D-4173-6EA9-6F59-2AFB11EA4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A3DE07-335F-6659-C974-F0593A901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A24926E-6AE9-4B54-D8B4-A075B4F8C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A6AC2-5A63-5364-44F3-F68BD647FDCB}"/>
              </a:ext>
            </a:extLst>
          </p:cNvPr>
          <p:cNvSpPr txBox="1"/>
          <p:nvPr/>
        </p:nvSpPr>
        <p:spPr>
          <a:xfrm>
            <a:off x="492604" y="958952"/>
            <a:ext cx="11453866" cy="315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AT" dirty="0"/>
              <a:t>Länge der Zeitreihen verschieden (nur neue Bella Vista dargestellt)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AT" dirty="0"/>
              <a:t>Bella Vista höchste Werte </a:t>
            </a:r>
            <a:r>
              <a:rPr lang="en-AT" dirty="0">
                <a:sym typeface="Wingdings" pitchFamily="2" charset="2"/>
              </a:rPr>
              <a:t> </a:t>
            </a:r>
            <a:r>
              <a:rPr lang="en-AT" b="1" i="1" dirty="0">
                <a:sym typeface="Wingdings" pitchFamily="2" charset="2"/>
              </a:rPr>
              <a:t>geschützte Lage und Schneeeintrag durch Wind </a:t>
            </a:r>
            <a:r>
              <a:rPr lang="en-AT" sz="1200" i="1" dirty="0">
                <a:sym typeface="Wingdings" pitchFamily="2" charset="2"/>
              </a:rPr>
              <a:t>(Warscher et al., 2024)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AT" dirty="0">
                <a:sym typeface="Wingdings" pitchFamily="2" charset="2"/>
              </a:rPr>
              <a:t>Latschbloder geringste Werte  </a:t>
            </a:r>
            <a:r>
              <a:rPr lang="en-AT" b="1" i="1" dirty="0">
                <a:sym typeface="Wingdings" pitchFamily="2" charset="2"/>
              </a:rPr>
              <a:t>Schneedecke wird möglicherweise durch Wind abgetragen, da exponiertere Lage </a:t>
            </a:r>
            <a:r>
              <a:rPr lang="en-AT" sz="1200" i="1" dirty="0">
                <a:sym typeface="Wingdings" pitchFamily="2" charset="2"/>
              </a:rPr>
              <a:t>(Warscher et al., 2024)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AT" dirty="0"/>
              <a:t>Erheblicher Unterschied zwischen Latschbloder und Proviantdepot (2019 / 2020) </a:t>
            </a:r>
            <a:r>
              <a:rPr lang="en-AT" dirty="0">
                <a:sym typeface="Wingdings" pitchFamily="2" charset="2"/>
              </a:rPr>
              <a:t> </a:t>
            </a:r>
            <a:r>
              <a:rPr lang="en-AT" b="1" i="1" dirty="0">
                <a:sym typeface="Wingdings" pitchFamily="2" charset="2"/>
              </a:rPr>
              <a:t>Winddeportation, Niederschlagsverteilung</a:t>
            </a:r>
            <a:endParaRPr lang="en-AT" b="1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0FACC-B349-E0E4-A8B6-2AFBCD8B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409" y="3860800"/>
            <a:ext cx="4127181" cy="2038248"/>
          </a:xfrm>
          <a:prstGeom prst="rect">
            <a:avLst/>
          </a:prstGeom>
        </p:spPr>
      </p:pic>
      <p:sp>
        <p:nvSpPr>
          <p:cNvPr id="10" name="Titel 6">
            <a:extLst>
              <a:ext uri="{FF2B5EF4-FFF2-40B4-BE49-F238E27FC236}">
                <a16:creationId xmlns:a16="http://schemas.microsoft.com/office/drawing/2014/main" id="{710CF7F0-4E8A-4F1B-28C9-49116A98E4BA}"/>
              </a:ext>
            </a:extLst>
          </p:cNvPr>
          <p:cNvSpPr txBox="1">
            <a:spLocks/>
          </p:cNvSpPr>
          <p:nvPr/>
        </p:nvSpPr>
        <p:spPr>
          <a:xfrm>
            <a:off x="397287" y="393844"/>
            <a:ext cx="8383856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>
                <a:cs typeface="Lava Devanagari" pitchFamily="2" charset="77"/>
              </a:rPr>
              <a:t>1. Zeitreihe der Schneehöhe</a:t>
            </a:r>
          </a:p>
        </p:txBody>
      </p:sp>
    </p:spTree>
    <p:extLst>
      <p:ext uri="{BB962C8B-B14F-4D97-AF65-F5344CB8AC3E}">
        <p14:creationId xmlns:p14="http://schemas.microsoft.com/office/powerpoint/2010/main" val="208184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DB39-103C-EC92-7E36-97FCA4A8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65598BB-D431-015F-8430-F01283E1A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287" y="393844"/>
            <a:ext cx="8383856" cy="477837"/>
          </a:xfrm>
        </p:spPr>
        <p:txBody>
          <a:bodyPr/>
          <a:lstStyle/>
          <a:p>
            <a:r>
              <a:rPr lang="de-DE" sz="3200" b="1" dirty="0">
                <a:cs typeface="Lava Devanagari" pitchFamily="2" charset="77"/>
              </a:rPr>
              <a:t>2. Statistische Analyse von SH und SWE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EF2610-843C-2B25-31EB-AF702E95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DBA19D-D36E-5A48-B156-419F50DDC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4FEB22A-2020-3C60-D9C8-5B919085F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616CF-78BB-65A1-FC56-6FD628688031}"/>
              </a:ext>
            </a:extLst>
          </p:cNvPr>
          <p:cNvSpPr txBox="1"/>
          <p:nvPr/>
        </p:nvSpPr>
        <p:spPr>
          <a:xfrm>
            <a:off x="4231098" y="5825269"/>
            <a:ext cx="58609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900" b="1" dirty="0">
                <a:cs typeface="Lava Devanagari" pitchFamily="2" charset="77"/>
              </a:rPr>
              <a:t>Abbildung 3. </a:t>
            </a:r>
            <a:r>
              <a:rPr lang="en-AT" sz="900" dirty="0">
                <a:cs typeface="Lava Devanagari" pitchFamily="2" charset="77"/>
              </a:rPr>
              <a:t>Regressionsanalyse von SWE und SH (Jacobsohn, 2026). </a:t>
            </a:r>
            <a:endParaRPr lang="en-AT" sz="900" b="1" dirty="0">
              <a:cs typeface="Lava Devanagari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E8D1E-4276-6A6B-E78A-4A4C64E1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920" y="871681"/>
            <a:ext cx="6360021" cy="49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1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5733-8998-2735-878D-A3C1BAA1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F57ED5-968F-437B-B990-6DD389FE7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B13B96-8E9E-EBBB-F559-1AF5A8736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B98C493-55EE-9FAA-F7EF-984BBD1FD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F89E37-FA71-D2A7-4060-90B30C01B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41" t="-1680" r="-311"/>
          <a:stretch>
            <a:fillRect/>
          </a:stretch>
        </p:blipFill>
        <p:spPr>
          <a:xfrm>
            <a:off x="8654599" y="1714709"/>
            <a:ext cx="2949615" cy="2304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F092C-5175-E3B2-EC1E-75122B2A554A}"/>
                  </a:ext>
                </a:extLst>
              </p:cNvPr>
              <p:cNvSpPr txBox="1"/>
              <p:nvPr/>
            </p:nvSpPr>
            <p:spPr>
              <a:xfrm>
                <a:off x="587786" y="1168948"/>
                <a:ext cx="11235913" cy="4695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AT" dirty="0"/>
                  <a:t>Hohe Korrelations- und Regressionsergebnisse </a:t>
                </a:r>
                <a:r>
                  <a:rPr lang="en-AT" dirty="0">
                    <a:sym typeface="Wingdings" pitchFamily="2" charset="2"/>
                  </a:rPr>
                  <a:t> </a:t>
                </a:r>
                <a:r>
                  <a:rPr lang="en-AT" b="1" i="1" dirty="0">
                    <a:sym typeface="Wingdings" pitchFamily="2" charset="2"/>
                  </a:rPr>
                  <a:t>klarer Zusammenhang erkennbar </a:t>
                </a:r>
              </a:p>
              <a:p>
                <a:endParaRPr lang="en-AT" b="1" dirty="0">
                  <a:sym typeface="Wingdings" pitchFamily="2" charset="2"/>
                </a:endParaRPr>
              </a:p>
              <a:p>
                <a:r>
                  <a:rPr lang="en-AT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T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		</a:t>
                </a:r>
                <a:r>
                  <a:rPr lang="en-AT" sz="20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SWE </a:t>
                </a:r>
                <a14:m>
                  <m:oMath xmlns:m="http://schemas.openxmlformats.org/officeDocument/2006/math">
                    <m:r>
                      <a:rPr lang="en-AT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2000" b="1" i="1">
                        <a:latin typeface="Cambria Math" panose="02040503050406030204" pitchFamily="18" charset="0"/>
                        <a:sym typeface="Wingdings" pitchFamily="2" charset="2"/>
                      </a:rPr>
                      <m:t>𝒉</m:t>
                    </m:r>
                    <m:r>
                      <a:rPr lang="de-AT" sz="2000" b="1" i="1" baseline="-25000">
                        <a:latin typeface="Cambria Math" panose="02040503050406030204" pitchFamily="18" charset="0"/>
                        <a:sym typeface="Wingdings" pitchFamily="2" charset="2"/>
                      </a:rPr>
                      <m:t>𝒔</m:t>
                    </m:r>
                    <m:r>
                      <a:rPr lang="de-AT" sz="2000" b="1" i="1" baseline="-25000" smtClean="0">
                        <a:latin typeface="Cambria Math" panose="02040503050406030204" pitchFamily="18" charset="0"/>
                        <a:sym typeface="Wingdings" pitchFamily="2" charset="2"/>
                      </a:rPr>
                      <m:t>   </m:t>
                    </m:r>
                    <m:f>
                      <m:fPr>
                        <m:ctrlPr>
                          <a:rPr lang="en-AT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T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T" sz="2000" b="1" i="1" smtClean="0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en-AT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T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T" sz="2000" b="1" i="1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a:rPr lang="de-AT" sz="20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den>
                    </m:f>
                  </m:oMath>
                </a14:m>
                <a:endParaRPr lang="en-AT" b="1" i="1" baseline="-25000" dirty="0"/>
              </a:p>
              <a:p>
                <a:endParaRPr lang="en-AT" b="1" i="1" baseline="-25000" dirty="0"/>
              </a:p>
              <a:p>
                <a:endParaRPr lang="en-AT" b="1" i="1" baseline="-25000" dirty="0"/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GB" i="1" dirty="0" err="1"/>
                  <a:t>n</a:t>
                </a:r>
                <a:r>
                  <a:rPr lang="en-GB" i="1" baseline="-25000" dirty="0" err="1"/>
                  <a:t>Akkumulation</a:t>
                </a:r>
                <a:r>
                  <a:rPr lang="en-GB" baseline="-25000" dirty="0"/>
                  <a:t> </a:t>
                </a:r>
                <a:r>
                  <a:rPr lang="en-GB" dirty="0"/>
                  <a:t>&gt; </a:t>
                </a:r>
                <a:r>
                  <a:rPr lang="en-GB" i="1" dirty="0" err="1"/>
                  <a:t>n</a:t>
                </a:r>
                <a:r>
                  <a:rPr lang="en-GB" i="1" baseline="-25000" dirty="0" err="1"/>
                  <a:t>Schmelzphase</a:t>
                </a:r>
                <a:r>
                  <a:rPr lang="en-GB" i="1" baseline="-25000" dirty="0"/>
                  <a:t>  </a:t>
                </a:r>
                <a:r>
                  <a:rPr lang="en-GB" dirty="0">
                    <a:sym typeface="Wingdings" pitchFamily="2" charset="2"/>
                  </a:rPr>
                  <a:t> </a:t>
                </a:r>
                <a:r>
                  <a:rPr lang="en-GB" b="1" i="1" dirty="0" err="1">
                    <a:sym typeface="Wingdings" pitchFamily="2" charset="2"/>
                  </a:rPr>
                  <a:t>Schmelzphase</a:t>
                </a:r>
                <a:r>
                  <a:rPr lang="en-GB" b="1" i="1" dirty="0">
                    <a:sym typeface="Wingdings" pitchFamily="2" charset="2"/>
                  </a:rPr>
                  <a:t> </a:t>
                </a:r>
                <a:r>
                  <a:rPr lang="en-GB" b="1" i="1" dirty="0" err="1">
                    <a:sym typeface="Wingdings" pitchFamily="2" charset="2"/>
                  </a:rPr>
                  <a:t>erfolgt</a:t>
                </a:r>
                <a:r>
                  <a:rPr lang="en-GB" b="1" i="1" dirty="0">
                    <a:sym typeface="Wingdings" pitchFamily="2" charset="2"/>
                  </a:rPr>
                  <a:t> </a:t>
                </a:r>
                <a:r>
                  <a:rPr lang="en-GB" b="1" i="1" dirty="0" err="1">
                    <a:sym typeface="Wingdings" pitchFamily="2" charset="2"/>
                  </a:rPr>
                  <a:t>deutlich</a:t>
                </a:r>
                <a:r>
                  <a:rPr lang="en-GB" b="1" i="1" dirty="0">
                    <a:sym typeface="Wingdings" pitchFamily="2" charset="2"/>
                  </a:rPr>
                  <a:t> </a:t>
                </a:r>
                <a:r>
                  <a:rPr lang="en-GB" b="1" i="1" dirty="0" err="1">
                    <a:sym typeface="Wingdings" pitchFamily="2" charset="2"/>
                  </a:rPr>
                  <a:t>schneller</a:t>
                </a:r>
                <a:r>
                  <a:rPr lang="en-GB" b="1" i="1" dirty="0">
                    <a:sym typeface="Wingdings" pitchFamily="2" charset="2"/>
                  </a:rPr>
                  <a:t> </a:t>
                </a:r>
                <a:endParaRPr lang="en-GB" b="1" i="1" baseline="-25000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GB" i="1" baseline="-25000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GB" i="1" baseline="-25000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GB" i="1" baseline="-25000" dirty="0"/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GB" i="1" dirty="0" err="1"/>
                  <a:t>r</a:t>
                </a:r>
                <a:r>
                  <a:rPr lang="en-GB" i="1" baseline="-25000" dirty="0" err="1"/>
                  <a:t>Bella</a:t>
                </a:r>
                <a:r>
                  <a:rPr lang="en-GB" i="1" dirty="0"/>
                  <a:t> </a:t>
                </a:r>
                <a:r>
                  <a:rPr lang="en-GB" i="1" baseline="-25000" dirty="0"/>
                  <a:t>Vista</a:t>
                </a:r>
                <a:r>
                  <a:rPr lang="en-GB" i="1" dirty="0"/>
                  <a:t> und R</a:t>
                </a:r>
                <a:r>
                  <a:rPr lang="en-GB" i="1" baseline="30000" dirty="0"/>
                  <a:t>2</a:t>
                </a:r>
                <a:r>
                  <a:rPr lang="en-GB" i="1" baseline="-25000" dirty="0"/>
                  <a:t>Bella Vista</a:t>
                </a:r>
                <a:r>
                  <a:rPr lang="en-GB" i="1" dirty="0"/>
                  <a:t> </a:t>
                </a:r>
                <a:r>
                  <a:rPr lang="en-GB" dirty="0"/>
                  <a:t>&gt; </a:t>
                </a:r>
                <a:r>
                  <a:rPr lang="en-GB" dirty="0" err="1"/>
                  <a:t>r</a:t>
                </a:r>
                <a:r>
                  <a:rPr lang="en-GB" baseline="-25000" dirty="0" err="1"/>
                  <a:t>Proviantdepot</a:t>
                </a:r>
                <a:r>
                  <a:rPr lang="en-GB" baseline="-25000" dirty="0"/>
                  <a:t> </a:t>
                </a:r>
                <a:r>
                  <a:rPr lang="en-GB" dirty="0"/>
                  <a:t>und R</a:t>
                </a:r>
                <a:r>
                  <a:rPr lang="en-GB" baseline="30000" dirty="0"/>
                  <a:t>2</a:t>
                </a:r>
                <a:r>
                  <a:rPr lang="en-GB" baseline="-25000" dirty="0"/>
                  <a:t>Proviantdepot  </a:t>
                </a:r>
                <a:r>
                  <a:rPr lang="en-GB" dirty="0">
                    <a:sym typeface="Wingdings" pitchFamily="2" charset="2"/>
                  </a:rPr>
                  <a:t> </a:t>
                </a:r>
                <a:r>
                  <a:rPr lang="en-GB" b="1" i="1" dirty="0">
                    <a:sym typeface="Wingdings" pitchFamily="2" charset="2"/>
                  </a:rPr>
                  <a:t>???</a:t>
                </a:r>
                <a:endParaRPr lang="en-GB" b="1" i="1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AT" i="1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AT" i="1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GB" dirty="0"/>
                  <a:t>B</a:t>
                </a:r>
                <a:r>
                  <a:rPr lang="en-AT" dirty="0"/>
                  <a:t>ei geringere Schneehöhen ist die Streuung der Messwerte um die Regressionsgerade geringer </a:t>
                </a:r>
                <a:r>
                  <a:rPr lang="en-AT" dirty="0">
                    <a:sym typeface="Wingdings" pitchFamily="2" charset="2"/>
                  </a:rPr>
                  <a:t> </a:t>
                </a:r>
                <a:r>
                  <a:rPr lang="en-AT" b="1" i="1" dirty="0">
                    <a:sym typeface="Wingdings" pitchFamily="2" charset="2"/>
                  </a:rPr>
                  <a:t>Setzung / Verdichtungen bei größeren Schneehöhen (Metamorphose) </a:t>
                </a:r>
                <a:endParaRPr lang="en-AT" b="1" i="1" dirty="0"/>
              </a:p>
              <a:p>
                <a:endParaRPr lang="en-AT" b="1" i="1" baseline="-25000" dirty="0"/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AT" b="1" i="1" baseline="-25000" dirty="0"/>
              </a:p>
              <a:p>
                <a:endParaRPr lang="en-AT" b="1" i="1" baseline="-25000" dirty="0"/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AT" b="1" i="1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7F092C-5175-E3B2-EC1E-75122B2A5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6" y="1168948"/>
                <a:ext cx="11235913" cy="4695773"/>
              </a:xfrm>
              <a:prstGeom prst="rect">
                <a:avLst/>
              </a:prstGeom>
              <a:blipFill>
                <a:blip r:embed="rId4"/>
                <a:stretch>
                  <a:fillRect l="-339" t="-811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el 6">
            <a:extLst>
              <a:ext uri="{FF2B5EF4-FFF2-40B4-BE49-F238E27FC236}">
                <a16:creationId xmlns:a16="http://schemas.microsoft.com/office/drawing/2014/main" id="{CB9A2BCC-359B-EA7D-5934-62CAF8D3540F}"/>
              </a:ext>
            </a:extLst>
          </p:cNvPr>
          <p:cNvSpPr txBox="1">
            <a:spLocks/>
          </p:cNvSpPr>
          <p:nvPr/>
        </p:nvSpPr>
        <p:spPr>
          <a:xfrm>
            <a:off x="397287" y="393844"/>
            <a:ext cx="8383856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>
                <a:cs typeface="Lava Devanagari" pitchFamily="2" charset="77"/>
              </a:rPr>
              <a:t>2. Statistische Analyse von SH und SWE</a:t>
            </a:r>
          </a:p>
        </p:txBody>
      </p:sp>
    </p:spTree>
    <p:extLst>
      <p:ext uri="{BB962C8B-B14F-4D97-AF65-F5344CB8AC3E}">
        <p14:creationId xmlns:p14="http://schemas.microsoft.com/office/powerpoint/2010/main" val="133394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A397-2898-2227-849E-4F00B6DC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ED5748-1B5E-6242-3345-47C725EDB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166BD1-7024-B27D-F766-B16D7D70A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40C6DFB-AF17-8984-834E-74A9D7784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D19273-C8A4-C400-73C6-06FCEF58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8"/>
          <a:stretch>
            <a:fillRect/>
          </a:stretch>
        </p:blipFill>
        <p:spPr>
          <a:xfrm>
            <a:off x="778716" y="1080236"/>
            <a:ext cx="11090317" cy="4724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1A7462-BA7D-FFC6-1897-D3EFA0719D2D}"/>
              </a:ext>
            </a:extLst>
          </p:cNvPr>
          <p:cNvSpPr txBox="1"/>
          <p:nvPr/>
        </p:nvSpPr>
        <p:spPr>
          <a:xfrm>
            <a:off x="3969841" y="5804829"/>
            <a:ext cx="58609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900" b="1" dirty="0">
                <a:cs typeface="Lava Devanagari" pitchFamily="2" charset="77"/>
              </a:rPr>
              <a:t>Abbildung 4. </a:t>
            </a:r>
            <a:r>
              <a:rPr lang="en-AT" sz="900" dirty="0">
                <a:cs typeface="Lava Devanagari" pitchFamily="2" charset="77"/>
              </a:rPr>
              <a:t>Jährlicher Vergleich der exponierten und geschützten Bella Vista Wetterstaion (Knapke, 2026). </a:t>
            </a:r>
            <a:endParaRPr lang="en-AT" sz="900" b="1" dirty="0">
              <a:cs typeface="Lava Devanagari" pitchFamily="2" charset="77"/>
            </a:endParaRP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EA69DFB7-CFD1-C09C-D363-48ECB76ED1F7}"/>
              </a:ext>
            </a:extLst>
          </p:cNvPr>
          <p:cNvSpPr txBox="1">
            <a:spLocks/>
          </p:cNvSpPr>
          <p:nvPr/>
        </p:nvSpPr>
        <p:spPr>
          <a:xfrm>
            <a:off x="397287" y="393844"/>
            <a:ext cx="1050294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>
                <a:cs typeface="Lava Devanagari" pitchFamily="2" charset="77"/>
              </a:rPr>
              <a:t>3. Vergleich der exponierten und geschützten Bella Vista Station </a:t>
            </a:r>
          </a:p>
        </p:txBody>
      </p:sp>
    </p:spTree>
    <p:extLst>
      <p:ext uri="{BB962C8B-B14F-4D97-AF65-F5344CB8AC3E}">
        <p14:creationId xmlns:p14="http://schemas.microsoft.com/office/powerpoint/2010/main" val="246899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18DB-68DA-9902-3537-3FD9387C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55851F8-3C47-C348-2859-93D60531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398" y="709981"/>
            <a:ext cx="9152312" cy="477837"/>
          </a:xfrm>
        </p:spPr>
        <p:txBody>
          <a:bodyPr/>
          <a:lstStyle/>
          <a:p>
            <a:r>
              <a:rPr lang="de-DE" sz="2800" b="1" dirty="0">
                <a:cs typeface="Lava Devanagari" pitchFamily="2" charset="77"/>
              </a:rPr>
              <a:t>Literaturverzeichnis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A16137-1AA6-15C8-622A-11AC6A9F9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936EE4-DBC0-6DF6-BFD7-7756F6E6B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AF280CC-82DD-0A89-0D53-AB7903DF5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B07F7-AB05-B6FC-D8AA-A6BB84357EE2}"/>
              </a:ext>
            </a:extLst>
          </p:cNvPr>
          <p:cNvSpPr txBox="1"/>
          <p:nvPr/>
        </p:nvSpPr>
        <p:spPr>
          <a:xfrm>
            <a:off x="571399" y="1213939"/>
            <a:ext cx="1061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1400" dirty="0"/>
              <a:t>Warscher, M., Marke, T., Rottler, E., &amp; Strasser, U. (2024). Operational and experimental snow observation systems in the upper Rofental: data from 2017 to 2023. </a:t>
            </a:r>
            <a:r>
              <a:rPr lang="en-AT" sz="1400" i="1" dirty="0"/>
              <a:t>Earth System Science Data</a:t>
            </a:r>
            <a:r>
              <a:rPr lang="en-AT" sz="1400" dirty="0"/>
              <a:t>, </a:t>
            </a:r>
            <a:r>
              <a:rPr lang="en-AT" sz="1400" i="1" dirty="0"/>
              <a:t>16</a:t>
            </a:r>
            <a:r>
              <a:rPr lang="en-AT" sz="1400" dirty="0"/>
              <a:t>(8), 3579-3599.</a:t>
            </a:r>
          </a:p>
        </p:txBody>
      </p:sp>
      <p:sp>
        <p:nvSpPr>
          <p:cNvPr id="3" name="Titel 6">
            <a:extLst>
              <a:ext uri="{FF2B5EF4-FFF2-40B4-BE49-F238E27FC236}">
                <a16:creationId xmlns:a16="http://schemas.microsoft.com/office/drawing/2014/main" id="{042DC36C-8B3F-8053-560B-338C4DEB98B7}"/>
              </a:ext>
            </a:extLst>
          </p:cNvPr>
          <p:cNvSpPr txBox="1">
            <a:spLocks/>
          </p:cNvSpPr>
          <p:nvPr/>
        </p:nvSpPr>
        <p:spPr>
          <a:xfrm>
            <a:off x="574120" y="2024889"/>
            <a:ext cx="915231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cs typeface="Lava Devanagari" pitchFamily="2" charset="77"/>
              </a:rPr>
              <a:t>Abbildungsverzeichnis</a:t>
            </a:r>
            <a:r>
              <a:rPr lang="de-DE" sz="3200" b="1" dirty="0">
                <a:cs typeface="Lava Devanagari" pitchFamily="2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2D2EE-0BCD-9EDD-038F-247A7BF47D67}"/>
              </a:ext>
            </a:extLst>
          </p:cNvPr>
          <p:cNvSpPr txBox="1"/>
          <p:nvPr/>
        </p:nvSpPr>
        <p:spPr>
          <a:xfrm>
            <a:off x="571399" y="2554967"/>
            <a:ext cx="1061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1400" b="1" dirty="0"/>
              <a:t>Abbildung 1. </a:t>
            </a:r>
            <a:r>
              <a:rPr lang="en-AT" sz="1400" dirty="0">
                <a:cs typeface="Lava Devanagari" pitchFamily="2" charset="77"/>
              </a:rPr>
              <a:t>Standorte der drei automatisierten Wetterstationen Bella Vista (2805 m a.s.l.), Latschbloder (2929 m a.s.l.) und Proviantdepot (2737 m a.s.l.). </a:t>
            </a:r>
            <a:endParaRPr lang="en-AT" sz="1400" b="1" dirty="0"/>
          </a:p>
          <a:p>
            <a:endParaRPr lang="en-AT" sz="1400" b="1" dirty="0"/>
          </a:p>
          <a:p>
            <a:r>
              <a:rPr lang="en-AT" sz="1400" b="1" dirty="0"/>
              <a:t>Abbildung 2. </a:t>
            </a:r>
            <a:r>
              <a:rPr lang="en-AT" sz="1400" dirty="0">
                <a:cs typeface="Lava Devanagari" pitchFamily="2" charset="77"/>
              </a:rPr>
              <a:t>Schneehöhe der drei Stationen zwischen 2017 und 2025.</a:t>
            </a:r>
            <a:endParaRPr lang="en-AT" sz="1400" b="1" dirty="0"/>
          </a:p>
          <a:p>
            <a:endParaRPr lang="en-AT" sz="1400" b="1" dirty="0"/>
          </a:p>
          <a:p>
            <a:r>
              <a:rPr lang="en-AT" sz="1400" b="1" dirty="0"/>
              <a:t>Abbildung 3. </a:t>
            </a:r>
            <a:r>
              <a:rPr lang="en-AT" sz="1400" dirty="0">
                <a:cs typeface="Lava Devanagari" pitchFamily="2" charset="77"/>
              </a:rPr>
              <a:t>Regressionsanalyse von SWE und SH von Bella Vista und Latschbloder. </a:t>
            </a:r>
            <a:endParaRPr lang="en-AT" sz="1400" b="1" dirty="0"/>
          </a:p>
          <a:p>
            <a:endParaRPr lang="en-AT" sz="1400" b="1" dirty="0"/>
          </a:p>
          <a:p>
            <a:r>
              <a:rPr lang="en-AT" sz="1400" b="1" dirty="0"/>
              <a:t>Abbildung 4. </a:t>
            </a:r>
            <a:r>
              <a:rPr lang="en-AT" sz="1400" dirty="0">
                <a:cs typeface="Lava Devanagari" pitchFamily="2" charset="77"/>
              </a:rPr>
              <a:t>Jährlicher Vergleich der exponierten und geschützten Bella Vista Wetterstaion. </a:t>
            </a:r>
            <a:endParaRPr lang="en-AT" sz="1400" b="1" dirty="0"/>
          </a:p>
        </p:txBody>
      </p:sp>
      <p:sp>
        <p:nvSpPr>
          <p:cNvPr id="9" name="Titel 6">
            <a:extLst>
              <a:ext uri="{FF2B5EF4-FFF2-40B4-BE49-F238E27FC236}">
                <a16:creationId xmlns:a16="http://schemas.microsoft.com/office/drawing/2014/main" id="{1C7BF2B0-9E37-76A7-40F4-1BC144E959A7}"/>
              </a:ext>
            </a:extLst>
          </p:cNvPr>
          <p:cNvSpPr txBox="1">
            <a:spLocks/>
          </p:cNvSpPr>
          <p:nvPr/>
        </p:nvSpPr>
        <p:spPr>
          <a:xfrm>
            <a:off x="571399" y="4654759"/>
            <a:ext cx="9152312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cs typeface="Lava Devanagari" pitchFamily="2" charset="77"/>
              </a:rPr>
              <a:t>Datengrundlage</a:t>
            </a:r>
            <a:endParaRPr lang="de-DE" sz="3200" b="1" dirty="0">
              <a:cs typeface="Lava Devanagari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3F549-DE99-9EB4-020D-7DEDA31232A9}"/>
              </a:ext>
            </a:extLst>
          </p:cNvPr>
          <p:cNvSpPr txBox="1"/>
          <p:nvPr/>
        </p:nvSpPr>
        <p:spPr>
          <a:xfrm>
            <a:off x="617209" y="5132596"/>
            <a:ext cx="9060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1400" dirty="0"/>
              <a:t>Warscher et al. (2023), GFZ Data Services. </a:t>
            </a:r>
            <a:r>
              <a:rPr lang="en-AT" sz="1400" dirty="0">
                <a:hlinkClick r:id="rId3"/>
              </a:rPr>
              <a:t>https://doi.org/10.5880/FIDGEO.2023.037</a:t>
            </a:r>
            <a:endParaRPr lang="en-AT" sz="1400" dirty="0"/>
          </a:p>
        </p:txBody>
      </p:sp>
    </p:spTree>
    <p:extLst>
      <p:ext uri="{BB962C8B-B14F-4D97-AF65-F5344CB8AC3E}">
        <p14:creationId xmlns:p14="http://schemas.microsoft.com/office/powerpoint/2010/main" val="1053504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D203-90F8-526C-10AD-942821CD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2AFFE9A-D9A9-00D4-0EE8-7A768997E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020" y="682316"/>
            <a:ext cx="9152312" cy="477837"/>
          </a:xfrm>
        </p:spPr>
        <p:txBody>
          <a:bodyPr/>
          <a:lstStyle/>
          <a:p>
            <a:r>
              <a:rPr lang="de-DE" sz="3200" b="1" dirty="0">
                <a:cs typeface="Lava Devanagari" pitchFamily="2" charset="77"/>
              </a:rPr>
              <a:t>Appendix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98BDD4-A558-4533-3FE6-1A6A8A801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70231C-0B68-40C3-7CB9-F1B2852AB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86B645A-09D3-FA29-6E00-BD8804794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88564-C0CE-9598-0096-B7BE591C0D67}"/>
              </a:ext>
            </a:extLst>
          </p:cNvPr>
          <p:cNvSpPr txBox="1"/>
          <p:nvPr/>
        </p:nvSpPr>
        <p:spPr>
          <a:xfrm>
            <a:off x="663020" y="1270000"/>
            <a:ext cx="1061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Python Skripts: </a:t>
            </a:r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/20jacobs/</a:t>
            </a:r>
            <a:r>
              <a:rPr lang="en-GB" dirty="0" err="1"/>
              <a:t>Snow_rofental.git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903249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4087-EA3D-C14C-7F05-29D33C92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7886320-29B9-D279-0F92-6FAEEF1F2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020" y="682316"/>
            <a:ext cx="9152312" cy="477837"/>
          </a:xfrm>
        </p:spPr>
        <p:txBody>
          <a:bodyPr/>
          <a:lstStyle/>
          <a:p>
            <a:r>
              <a:rPr lang="de-DE" sz="3200" b="1" dirty="0">
                <a:cs typeface="Lava Devanagari" pitchFamily="2" charset="77"/>
              </a:rPr>
              <a:t>2. Zeitreihe vom SWE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AA08D5-6BAE-EB52-543A-65B50B154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24606" y="6352404"/>
            <a:ext cx="4114800" cy="314425"/>
          </a:xfrm>
        </p:spPr>
        <p:txBody>
          <a:bodyPr/>
          <a:lstStyle/>
          <a:p>
            <a:r>
              <a:rPr lang="de-DE" dirty="0"/>
              <a:t>Knapke &amp; Jacobsohn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83CCC8-9837-EA16-58B5-AE304B29A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4476" y="6350145"/>
            <a:ext cx="888247" cy="316684"/>
          </a:xfrm>
        </p:spPr>
        <p:txBody>
          <a:bodyPr/>
          <a:lstStyle/>
          <a:p>
            <a:r>
              <a:rPr lang="de-DE" dirty="0"/>
              <a:t>Seite </a:t>
            </a:r>
            <a:fld id="{EBA229B5-7CFD-BC45-B1DD-7E8FA6FF2A01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38C9D08-FB10-4C2A-4DB6-4FDF5AD1C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7620" y="6352404"/>
            <a:ext cx="1311917" cy="316684"/>
          </a:xfrm>
        </p:spPr>
        <p:txBody>
          <a:bodyPr/>
          <a:lstStyle/>
          <a:p>
            <a:fld id="{7C3CDC0F-71BF-B840-812C-9588125E0BFE}" type="datetime6">
              <a:rPr lang="de-DE" smtClean="0"/>
              <a:pPr/>
              <a:t>Oktober 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F2FEE-B8CF-1862-3637-9EEBA1845E35}"/>
              </a:ext>
            </a:extLst>
          </p:cNvPr>
          <p:cNvSpPr txBox="1"/>
          <p:nvPr/>
        </p:nvSpPr>
        <p:spPr>
          <a:xfrm>
            <a:off x="3942293" y="5825937"/>
            <a:ext cx="58609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900" b="1" dirty="0">
                <a:cs typeface="Lava Devanagari" pitchFamily="2" charset="77"/>
              </a:rPr>
              <a:t>Abbildung 3. </a:t>
            </a:r>
            <a:r>
              <a:rPr lang="en-AT" sz="900" dirty="0">
                <a:cs typeface="Lava Devanagari" pitchFamily="2" charset="77"/>
              </a:rPr>
              <a:t>SWE der Stationen Bella Vista und Proviantdepot zwischen 2019 und 2025 (Jacobsohn, 2026). </a:t>
            </a:r>
            <a:endParaRPr lang="en-AT" sz="900" b="1" dirty="0">
              <a:cs typeface="Lava Devanagari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50FA3-9F46-3ED5-9CE5-E8B67DA8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10" y="1160153"/>
            <a:ext cx="9447592" cy="466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70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E8D01778-62E1-4AD0-B2FB-E631DD3CCD47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1301</TotalTime>
  <Words>541</Words>
  <Application>Microsoft Macintosh PowerPoint</Application>
  <PresentationFormat>Widescreen</PresentationFormat>
  <Paragraphs>81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Lava Devanagari</vt:lpstr>
      <vt:lpstr>Wingdings</vt:lpstr>
      <vt:lpstr>Office</vt:lpstr>
      <vt:lpstr>Datenanalyse der Schneehöhe und SWE im Hochgebirge Vergleich der Wetterstationen Bella Vista, Latschbloder und Proviantdepot im Rofental  Jonas Knapke &amp; Franziska Jacobsohn (20.10.2026), EU Gebirgsforschung  </vt:lpstr>
      <vt:lpstr>PowerPoint Presentation</vt:lpstr>
      <vt:lpstr>PowerPoint Presentation</vt:lpstr>
      <vt:lpstr>2. Statistische Analyse von SH und SWE</vt:lpstr>
      <vt:lpstr>PowerPoint Presentation</vt:lpstr>
      <vt:lpstr>PowerPoint Presentation</vt:lpstr>
      <vt:lpstr>Literaturverzeichnis </vt:lpstr>
      <vt:lpstr>Appendix </vt:lpstr>
      <vt:lpstr>2. Zeitreihe vom SWE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franziska.jacobsohn@gmail.com</cp:lastModifiedBy>
  <cp:revision>120</cp:revision>
  <dcterms:created xsi:type="dcterms:W3CDTF">2017-06-06T07:41:45Z</dcterms:created>
  <dcterms:modified xsi:type="dcterms:W3CDTF">2026-10-19T08:37:57Z</dcterms:modified>
</cp:coreProperties>
</file>